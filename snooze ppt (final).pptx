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ooper BT Bold" charset="1" panose="0208080404030B020404"/>
      <p:regular r:id="rId19"/>
    </p:embeddedFont>
    <p:embeddedFont>
      <p:font typeface="Cooper BT Light" charset="1" panose="0208050304030B02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jpeg" Type="http://schemas.openxmlformats.org/officeDocument/2006/relationships/image"/><Relationship Id="rId7" Target="../media/image7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0">
            <a:off x="-1889093" y="-2025661"/>
            <a:ext cx="4010284" cy="5327672"/>
          </a:xfrm>
          <a:custGeom>
            <a:avLst/>
            <a:gdLst/>
            <a:ahLst/>
            <a:cxnLst/>
            <a:rect r="r" b="b" t="t" l="l"/>
            <a:pathLst>
              <a:path h="5327672" w="4010284">
                <a:moveTo>
                  <a:pt x="0" y="0"/>
                </a:moveTo>
                <a:lnTo>
                  <a:pt x="4010284" y="0"/>
                </a:lnTo>
                <a:lnTo>
                  <a:pt x="4010284" y="5327672"/>
                </a:lnTo>
                <a:lnTo>
                  <a:pt x="0" y="5327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Abstract organic shape"/>
          <p:cNvSpPr/>
          <p:nvPr/>
        </p:nvSpPr>
        <p:spPr>
          <a:xfrm flipH="false" flipV="false" rot="746247">
            <a:off x="-1156514" y="5381726"/>
            <a:ext cx="6088034" cy="7200900"/>
          </a:xfrm>
          <a:custGeom>
            <a:avLst/>
            <a:gdLst/>
            <a:ahLst/>
            <a:cxnLst/>
            <a:rect r="r" b="b" t="t" l="l"/>
            <a:pathLst>
              <a:path h="7200900" w="6088034">
                <a:moveTo>
                  <a:pt x="0" y="0"/>
                </a:moveTo>
                <a:lnTo>
                  <a:pt x="6088034" y="0"/>
                </a:lnTo>
                <a:lnTo>
                  <a:pt x="608803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80320" y="0"/>
            <a:ext cx="8607680" cy="10287000"/>
            <a:chOff x="0" y="0"/>
            <a:chExt cx="226704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0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67043">
                  <a:moveTo>
                    <a:pt x="0" y="0"/>
                  </a:moveTo>
                  <a:lnTo>
                    <a:pt x="2267043" y="0"/>
                  </a:lnTo>
                  <a:lnTo>
                    <a:pt x="22670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EB3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267043" cy="2756958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3504125"/>
            <a:ext cx="8242983" cy="3849317"/>
          </a:xfrm>
          <a:custGeom>
            <a:avLst/>
            <a:gdLst/>
            <a:ahLst/>
            <a:cxnLst/>
            <a:rect r="r" b="b" t="t" l="l"/>
            <a:pathLst>
              <a:path h="3849317" w="8242983">
                <a:moveTo>
                  <a:pt x="0" y="0"/>
                </a:moveTo>
                <a:lnTo>
                  <a:pt x="8242983" y="0"/>
                </a:lnTo>
                <a:lnTo>
                  <a:pt x="8242983" y="3849317"/>
                </a:lnTo>
                <a:lnTo>
                  <a:pt x="0" y="38493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750091" y="1999316"/>
            <a:ext cx="6468137" cy="6785370"/>
            <a:chOff x="0" y="0"/>
            <a:chExt cx="8624183" cy="904715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8624183" cy="7851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24"/>
                </a:lnSpc>
              </a:pPr>
              <a:r>
                <a:rPr lang="en-US" b="true" sz="8295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An AI Powered Fashion Discovery Platform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4408"/>
              <a:ext cx="8624183" cy="7927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00"/>
                </a:lnSpc>
              </a:pPr>
              <a:r>
                <a:rPr lang="en-US" b="true" sz="35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TEAM- 4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53980" y="465367"/>
            <a:ext cx="13180039" cy="114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OVERVIEW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99997"/>
              <a:ext cx="1591360" cy="1085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690362">
            <a:off x="14516937" y="-1346836"/>
            <a:ext cx="4134546" cy="4890324"/>
          </a:xfrm>
          <a:custGeom>
            <a:avLst/>
            <a:gdLst/>
            <a:ahLst/>
            <a:cxnLst/>
            <a:rect r="r" b="b" t="t" l="l"/>
            <a:pathLst>
              <a:path h="4890324" w="4134546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65646">
            <a:off x="-607849" y="7151772"/>
            <a:ext cx="4135775" cy="4891777"/>
          </a:xfrm>
          <a:custGeom>
            <a:avLst/>
            <a:gdLst/>
            <a:ahLst/>
            <a:cxnLst/>
            <a:rect r="r" b="b" t="t" l="l"/>
            <a:pathLst>
              <a:path h="4891777" w="4135775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01857" y="3360898"/>
            <a:ext cx="448096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Key Features- Image Bsed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85935" y="3360898"/>
            <a:ext cx="448096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Technology Stack- Image Based Search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41371" y="2272338"/>
            <a:ext cx="4480960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The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93581" y="3360898"/>
            <a:ext cx="448096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Key Features- Text based search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93581" y="2270991"/>
            <a:ext cx="5055568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Our 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93581" y="6448358"/>
            <a:ext cx="4480960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Stakeholders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01857" y="2270991"/>
            <a:ext cx="4480960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Introduction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85935" y="5774442"/>
            <a:ext cx="448096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Design and User Experience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01857" y="8207036"/>
            <a:ext cx="4480960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Future Potential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41371" y="8539231"/>
            <a:ext cx="4480960" cy="63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01857" y="5783967"/>
            <a:ext cx="448096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179"/>
              </a:lnSpc>
              <a:buFont typeface="Arial"/>
              <a:buChar char="•"/>
            </a:pPr>
            <a:r>
              <a:rPr lang="en-US" b="true" sz="3699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Technology Stack- Text Based Search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0038" y="550124"/>
            <a:ext cx="14273981" cy="23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INTRODUCTION- THE WORLD OF FASHION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99997"/>
              <a:ext cx="1591360" cy="109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2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690362">
            <a:off x="14516937" y="-1346836"/>
            <a:ext cx="4134546" cy="4890324"/>
          </a:xfrm>
          <a:custGeom>
            <a:avLst/>
            <a:gdLst/>
            <a:ahLst/>
            <a:cxnLst/>
            <a:rect r="r" b="b" t="t" l="l"/>
            <a:pathLst>
              <a:path h="4890324" w="4134546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65646">
            <a:off x="-607849" y="7151772"/>
            <a:ext cx="4135775" cy="4891777"/>
          </a:xfrm>
          <a:custGeom>
            <a:avLst/>
            <a:gdLst/>
            <a:ahLst/>
            <a:cxnLst/>
            <a:rect r="r" b="b" t="t" l="l"/>
            <a:pathLst>
              <a:path h="4891777" w="4135775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38358" y="3388397"/>
            <a:ext cx="14811283" cy="5477532"/>
            <a:chOff x="0" y="0"/>
            <a:chExt cx="19748378" cy="730337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9748378" cy="71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Fashion is constantly evolving.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08967"/>
              <a:ext cx="19748378" cy="1476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Users want to discover timely, on-trend items without manually filtering through outdated results.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877825"/>
              <a:ext cx="19748378" cy="1476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They jump between platforms just to find or track down one style or product.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846683"/>
              <a:ext cx="19748378" cy="71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Most sites rely on keyword-based search.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827364"/>
              <a:ext cx="19748378" cy="1476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buFont typeface="Arial"/>
                <a:buChar char="•"/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By combining image-based and natural language search, Snooze provides a smart, unified discovery tool for fashion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65485" y="879571"/>
            <a:ext cx="14413945" cy="174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THE PROBLEM- FASHION DISCOVERY CHALLANGES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945490" y="3464292"/>
            <a:ext cx="5523675" cy="2596316"/>
            <a:chOff x="0" y="0"/>
            <a:chExt cx="7364900" cy="346175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7364900" cy="1449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85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Missed Opportunities for Brands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73562"/>
              <a:ext cx="7364900" cy="1788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Brands miss sales as products stay hidden without smart, AI drvien search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945490" y="6474192"/>
            <a:ext cx="5523675" cy="2596316"/>
            <a:chOff x="0" y="0"/>
            <a:chExt cx="7364900" cy="346175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7364900" cy="1449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85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Shoppers Settle or Abandon Search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673562"/>
              <a:ext cx="7364900" cy="17881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When results aren’t relevant or fast, users either abandon the search or settle for less preferred options.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98840" y="3464292"/>
            <a:ext cx="5523675" cy="2139160"/>
            <a:chOff x="0" y="0"/>
            <a:chExt cx="7364900" cy="28522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7364900" cy="1449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85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Fragmented Shopping Experience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673562"/>
              <a:ext cx="7364900" cy="117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Shoppers jump between multiple platforms to find one product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98840" y="6474192"/>
            <a:ext cx="5523675" cy="2139160"/>
            <a:chOff x="0" y="0"/>
            <a:chExt cx="7364900" cy="285221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28575"/>
              <a:ext cx="7364900" cy="1449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85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Style Overload Without Personalization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673562"/>
              <a:ext cx="7364900" cy="117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Users are overwhelmed by irrelevant results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-5400000">
            <a:off x="1697120" y="3832657"/>
            <a:ext cx="1114521" cy="377790"/>
          </a:xfrm>
          <a:prstGeom prst="rect">
            <a:avLst/>
          </a:prstGeom>
          <a:solidFill>
            <a:srgbClr val="3F2E3E"/>
          </a:solidFill>
        </p:spPr>
      </p:sp>
      <p:sp>
        <p:nvSpPr>
          <p:cNvPr name="AutoShape 17" id="17"/>
          <p:cNvSpPr/>
          <p:nvPr/>
        </p:nvSpPr>
        <p:spPr>
          <a:xfrm rot="-5400000">
            <a:off x="1697120" y="6842557"/>
            <a:ext cx="1114521" cy="377790"/>
          </a:xfrm>
          <a:prstGeom prst="rect">
            <a:avLst/>
          </a:prstGeom>
          <a:solidFill>
            <a:srgbClr val="3F2E3E"/>
          </a:solidFill>
        </p:spPr>
      </p:sp>
      <p:sp>
        <p:nvSpPr>
          <p:cNvPr name="AutoShape 18" id="18"/>
          <p:cNvSpPr/>
          <p:nvPr/>
        </p:nvSpPr>
        <p:spPr>
          <a:xfrm rot="-5400000">
            <a:off x="9450470" y="3832657"/>
            <a:ext cx="1114521" cy="377790"/>
          </a:xfrm>
          <a:prstGeom prst="rect">
            <a:avLst/>
          </a:prstGeom>
          <a:solidFill>
            <a:srgbClr val="3F2E3E"/>
          </a:solidFill>
        </p:spPr>
      </p:sp>
      <p:sp>
        <p:nvSpPr>
          <p:cNvPr name="AutoShape 19" id="19"/>
          <p:cNvSpPr/>
          <p:nvPr/>
        </p:nvSpPr>
        <p:spPr>
          <a:xfrm rot="0">
            <a:off x="-188960" y="9909210"/>
            <a:ext cx="18665921" cy="377790"/>
          </a:xfrm>
          <a:prstGeom prst="rect">
            <a:avLst/>
          </a:prstGeom>
          <a:solidFill>
            <a:srgbClr val="3F2E3E"/>
          </a:solidFill>
        </p:spPr>
      </p:sp>
      <p:grpSp>
        <p:nvGrpSpPr>
          <p:cNvPr name="Group 20" id="20"/>
          <p:cNvGrpSpPr/>
          <p:nvPr/>
        </p:nvGrpSpPr>
        <p:grpSpPr>
          <a:xfrm rot="0">
            <a:off x="16479430" y="8490977"/>
            <a:ext cx="1193520" cy="1159060"/>
            <a:chOff x="0" y="0"/>
            <a:chExt cx="1591360" cy="154541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72609"/>
              <a:ext cx="1591360" cy="1073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3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-5400000">
            <a:off x="9450470" y="6951117"/>
            <a:ext cx="1114521" cy="377790"/>
          </a:xfrm>
          <a:prstGeom prst="rect">
            <a:avLst/>
          </a:prstGeom>
          <a:solidFill>
            <a:srgbClr val="3F2E3E"/>
          </a:solid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8390" y="382465"/>
            <a:ext cx="10451219" cy="23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OUR SOLUTION- SNOOZE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4781" y="5593650"/>
            <a:ext cx="4469884" cy="1463099"/>
            <a:chOff x="0" y="0"/>
            <a:chExt cx="1491333" cy="4881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91333" cy="488149"/>
            </a:xfrm>
            <a:custGeom>
              <a:avLst/>
              <a:gdLst/>
              <a:ahLst/>
              <a:cxnLst/>
              <a:rect r="r" b="b" t="t" l="l"/>
              <a:pathLst>
                <a:path h="488149" w="1491333">
                  <a:moveTo>
                    <a:pt x="88333" y="0"/>
                  </a:moveTo>
                  <a:lnTo>
                    <a:pt x="1403000" y="0"/>
                  </a:lnTo>
                  <a:cubicBezTo>
                    <a:pt x="1426427" y="0"/>
                    <a:pt x="1448895" y="9306"/>
                    <a:pt x="1465461" y="25872"/>
                  </a:cubicBezTo>
                  <a:cubicBezTo>
                    <a:pt x="1482026" y="42438"/>
                    <a:pt x="1491333" y="64906"/>
                    <a:pt x="1491333" y="88333"/>
                  </a:cubicBezTo>
                  <a:lnTo>
                    <a:pt x="1491333" y="399816"/>
                  </a:lnTo>
                  <a:cubicBezTo>
                    <a:pt x="1491333" y="423243"/>
                    <a:pt x="1482026" y="445711"/>
                    <a:pt x="1465461" y="462277"/>
                  </a:cubicBezTo>
                  <a:cubicBezTo>
                    <a:pt x="1448895" y="478842"/>
                    <a:pt x="1426427" y="488149"/>
                    <a:pt x="1403000" y="488149"/>
                  </a:cubicBezTo>
                  <a:lnTo>
                    <a:pt x="88333" y="488149"/>
                  </a:lnTo>
                  <a:cubicBezTo>
                    <a:pt x="64906" y="488149"/>
                    <a:pt x="42438" y="478842"/>
                    <a:pt x="25872" y="462277"/>
                  </a:cubicBezTo>
                  <a:cubicBezTo>
                    <a:pt x="9306" y="445711"/>
                    <a:pt x="0" y="423243"/>
                    <a:pt x="0" y="399816"/>
                  </a:cubicBezTo>
                  <a:lnTo>
                    <a:pt x="0" y="88333"/>
                  </a:lnTo>
                  <a:cubicBezTo>
                    <a:pt x="0" y="64906"/>
                    <a:pt x="9306" y="42438"/>
                    <a:pt x="25872" y="25872"/>
                  </a:cubicBezTo>
                  <a:cubicBezTo>
                    <a:pt x="42438" y="9306"/>
                    <a:pt x="64906" y="0"/>
                    <a:pt x="88333" y="0"/>
                  </a:cubicBezTo>
                  <a:close/>
                </a:path>
              </a:pathLst>
            </a:custGeom>
            <a:solidFill>
              <a:srgbClr val="CEB3C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91333" cy="526249"/>
            </a:xfrm>
            <a:prstGeom prst="rect">
              <a:avLst/>
            </a:prstGeom>
          </p:spPr>
          <p:txBody>
            <a:bodyPr anchor="ctr" rtlCol="false" tIns="40101" lIns="40101" bIns="40101" rIns="4010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79340" y="5817790"/>
            <a:ext cx="404187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Search using images or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8034" y="5072612"/>
            <a:ext cx="3301429" cy="5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57431" y="5593650"/>
            <a:ext cx="4469884" cy="1463099"/>
            <a:chOff x="0" y="0"/>
            <a:chExt cx="1491333" cy="4881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1333" cy="488149"/>
            </a:xfrm>
            <a:custGeom>
              <a:avLst/>
              <a:gdLst/>
              <a:ahLst/>
              <a:cxnLst/>
              <a:rect r="r" b="b" t="t" l="l"/>
              <a:pathLst>
                <a:path h="488149" w="1491333">
                  <a:moveTo>
                    <a:pt x="88333" y="0"/>
                  </a:moveTo>
                  <a:lnTo>
                    <a:pt x="1403000" y="0"/>
                  </a:lnTo>
                  <a:cubicBezTo>
                    <a:pt x="1426427" y="0"/>
                    <a:pt x="1448895" y="9306"/>
                    <a:pt x="1465461" y="25872"/>
                  </a:cubicBezTo>
                  <a:cubicBezTo>
                    <a:pt x="1482026" y="42438"/>
                    <a:pt x="1491333" y="64906"/>
                    <a:pt x="1491333" y="88333"/>
                  </a:cubicBezTo>
                  <a:lnTo>
                    <a:pt x="1491333" y="399816"/>
                  </a:lnTo>
                  <a:cubicBezTo>
                    <a:pt x="1491333" y="423243"/>
                    <a:pt x="1482026" y="445711"/>
                    <a:pt x="1465461" y="462277"/>
                  </a:cubicBezTo>
                  <a:cubicBezTo>
                    <a:pt x="1448895" y="478842"/>
                    <a:pt x="1426427" y="488149"/>
                    <a:pt x="1403000" y="488149"/>
                  </a:cubicBezTo>
                  <a:lnTo>
                    <a:pt x="88333" y="488149"/>
                  </a:lnTo>
                  <a:cubicBezTo>
                    <a:pt x="64906" y="488149"/>
                    <a:pt x="42438" y="478842"/>
                    <a:pt x="25872" y="462277"/>
                  </a:cubicBezTo>
                  <a:cubicBezTo>
                    <a:pt x="9306" y="445711"/>
                    <a:pt x="0" y="423243"/>
                    <a:pt x="0" y="399816"/>
                  </a:cubicBezTo>
                  <a:lnTo>
                    <a:pt x="0" y="88333"/>
                  </a:lnTo>
                  <a:cubicBezTo>
                    <a:pt x="0" y="64906"/>
                    <a:pt x="9306" y="42438"/>
                    <a:pt x="25872" y="25872"/>
                  </a:cubicBezTo>
                  <a:cubicBezTo>
                    <a:pt x="42438" y="9306"/>
                    <a:pt x="64906" y="0"/>
                    <a:pt x="88333" y="0"/>
                  </a:cubicBezTo>
                  <a:close/>
                </a:path>
              </a:pathLst>
            </a:custGeom>
            <a:solidFill>
              <a:srgbClr val="CEB3C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91333" cy="526249"/>
            </a:xfrm>
            <a:prstGeom prst="rect">
              <a:avLst/>
            </a:prstGeom>
          </p:spPr>
          <p:txBody>
            <a:bodyPr anchor="ctr" rtlCol="false" tIns="40101" lIns="40101" bIns="40101" rIns="4010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171435" y="5772727"/>
            <a:ext cx="4041876" cy="104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Find products that match your preferences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60685" y="5072612"/>
            <a:ext cx="3301429" cy="5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2.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89416" y="5548762"/>
            <a:ext cx="4469884" cy="1507988"/>
            <a:chOff x="0" y="0"/>
            <a:chExt cx="1491333" cy="5031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1333" cy="503125"/>
            </a:xfrm>
            <a:custGeom>
              <a:avLst/>
              <a:gdLst/>
              <a:ahLst/>
              <a:cxnLst/>
              <a:rect r="r" b="b" t="t" l="l"/>
              <a:pathLst>
                <a:path h="503125" w="1491333">
                  <a:moveTo>
                    <a:pt x="88333" y="0"/>
                  </a:moveTo>
                  <a:lnTo>
                    <a:pt x="1403000" y="0"/>
                  </a:lnTo>
                  <a:cubicBezTo>
                    <a:pt x="1426427" y="0"/>
                    <a:pt x="1448895" y="9306"/>
                    <a:pt x="1465461" y="25872"/>
                  </a:cubicBezTo>
                  <a:cubicBezTo>
                    <a:pt x="1482026" y="42438"/>
                    <a:pt x="1491333" y="64906"/>
                    <a:pt x="1491333" y="88333"/>
                  </a:cubicBezTo>
                  <a:lnTo>
                    <a:pt x="1491333" y="414792"/>
                  </a:lnTo>
                  <a:cubicBezTo>
                    <a:pt x="1491333" y="438220"/>
                    <a:pt x="1482026" y="460688"/>
                    <a:pt x="1465461" y="477253"/>
                  </a:cubicBezTo>
                  <a:cubicBezTo>
                    <a:pt x="1448895" y="493819"/>
                    <a:pt x="1426427" y="503125"/>
                    <a:pt x="1403000" y="503125"/>
                  </a:cubicBezTo>
                  <a:lnTo>
                    <a:pt x="88333" y="503125"/>
                  </a:lnTo>
                  <a:cubicBezTo>
                    <a:pt x="64906" y="503125"/>
                    <a:pt x="42438" y="493819"/>
                    <a:pt x="25872" y="477253"/>
                  </a:cubicBezTo>
                  <a:cubicBezTo>
                    <a:pt x="9306" y="460688"/>
                    <a:pt x="0" y="438220"/>
                    <a:pt x="0" y="414792"/>
                  </a:cubicBezTo>
                  <a:lnTo>
                    <a:pt x="0" y="88333"/>
                  </a:lnTo>
                  <a:cubicBezTo>
                    <a:pt x="0" y="64906"/>
                    <a:pt x="9306" y="42438"/>
                    <a:pt x="25872" y="25872"/>
                  </a:cubicBezTo>
                  <a:cubicBezTo>
                    <a:pt x="42438" y="9306"/>
                    <a:pt x="64906" y="0"/>
                    <a:pt x="88333" y="0"/>
                  </a:cubicBezTo>
                  <a:close/>
                </a:path>
              </a:pathLst>
            </a:custGeom>
            <a:solidFill>
              <a:srgbClr val="CEB3C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1333" cy="541225"/>
            </a:xfrm>
            <a:prstGeom prst="rect">
              <a:avLst/>
            </a:prstGeom>
          </p:spPr>
          <p:txBody>
            <a:bodyPr anchor="ctr" rtlCol="false" tIns="40101" lIns="40101" bIns="40101" rIns="4010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128684" y="5501137"/>
            <a:ext cx="379134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Get personalized, accurate recommendations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92670" y="5072612"/>
            <a:ext cx="3301429" cy="5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3.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375133" y="7966068"/>
            <a:ext cx="4469884" cy="1463099"/>
            <a:chOff x="0" y="0"/>
            <a:chExt cx="1491333" cy="4881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91333" cy="488149"/>
            </a:xfrm>
            <a:custGeom>
              <a:avLst/>
              <a:gdLst/>
              <a:ahLst/>
              <a:cxnLst/>
              <a:rect r="r" b="b" t="t" l="l"/>
              <a:pathLst>
                <a:path h="488149" w="1491333">
                  <a:moveTo>
                    <a:pt x="88333" y="0"/>
                  </a:moveTo>
                  <a:lnTo>
                    <a:pt x="1403000" y="0"/>
                  </a:lnTo>
                  <a:cubicBezTo>
                    <a:pt x="1426427" y="0"/>
                    <a:pt x="1448895" y="9306"/>
                    <a:pt x="1465461" y="25872"/>
                  </a:cubicBezTo>
                  <a:cubicBezTo>
                    <a:pt x="1482026" y="42438"/>
                    <a:pt x="1491333" y="64906"/>
                    <a:pt x="1491333" y="88333"/>
                  </a:cubicBezTo>
                  <a:lnTo>
                    <a:pt x="1491333" y="399816"/>
                  </a:lnTo>
                  <a:cubicBezTo>
                    <a:pt x="1491333" y="423243"/>
                    <a:pt x="1482026" y="445711"/>
                    <a:pt x="1465461" y="462277"/>
                  </a:cubicBezTo>
                  <a:cubicBezTo>
                    <a:pt x="1448895" y="478842"/>
                    <a:pt x="1426427" y="488149"/>
                    <a:pt x="1403000" y="488149"/>
                  </a:cubicBezTo>
                  <a:lnTo>
                    <a:pt x="88333" y="488149"/>
                  </a:lnTo>
                  <a:cubicBezTo>
                    <a:pt x="64906" y="488149"/>
                    <a:pt x="42438" y="478842"/>
                    <a:pt x="25872" y="462277"/>
                  </a:cubicBezTo>
                  <a:cubicBezTo>
                    <a:pt x="9306" y="445711"/>
                    <a:pt x="0" y="423243"/>
                    <a:pt x="0" y="399816"/>
                  </a:cubicBezTo>
                  <a:lnTo>
                    <a:pt x="0" y="88333"/>
                  </a:lnTo>
                  <a:cubicBezTo>
                    <a:pt x="0" y="64906"/>
                    <a:pt x="9306" y="42438"/>
                    <a:pt x="25872" y="25872"/>
                  </a:cubicBezTo>
                  <a:cubicBezTo>
                    <a:pt x="42438" y="9306"/>
                    <a:pt x="64906" y="0"/>
                    <a:pt x="88333" y="0"/>
                  </a:cubicBezTo>
                  <a:close/>
                </a:path>
              </a:pathLst>
            </a:custGeom>
            <a:solidFill>
              <a:srgbClr val="CEB3C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91333" cy="526249"/>
            </a:xfrm>
            <a:prstGeom prst="rect">
              <a:avLst/>
            </a:prstGeom>
          </p:spPr>
          <p:txBody>
            <a:bodyPr anchor="ctr" rtlCol="false" tIns="40101" lIns="40101" bIns="40101" rIns="4010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589137" y="8145145"/>
            <a:ext cx="4041876" cy="104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Discover new styles and trends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78387" y="7445030"/>
            <a:ext cx="3301429" cy="5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4.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161088" y="7966068"/>
            <a:ext cx="4469884" cy="1463099"/>
            <a:chOff x="0" y="0"/>
            <a:chExt cx="1491333" cy="4881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1333" cy="488149"/>
            </a:xfrm>
            <a:custGeom>
              <a:avLst/>
              <a:gdLst/>
              <a:ahLst/>
              <a:cxnLst/>
              <a:rect r="r" b="b" t="t" l="l"/>
              <a:pathLst>
                <a:path h="488149" w="1491333">
                  <a:moveTo>
                    <a:pt x="88333" y="0"/>
                  </a:moveTo>
                  <a:lnTo>
                    <a:pt x="1403000" y="0"/>
                  </a:lnTo>
                  <a:cubicBezTo>
                    <a:pt x="1426427" y="0"/>
                    <a:pt x="1448895" y="9306"/>
                    <a:pt x="1465461" y="25872"/>
                  </a:cubicBezTo>
                  <a:cubicBezTo>
                    <a:pt x="1482026" y="42438"/>
                    <a:pt x="1491333" y="64906"/>
                    <a:pt x="1491333" y="88333"/>
                  </a:cubicBezTo>
                  <a:lnTo>
                    <a:pt x="1491333" y="399816"/>
                  </a:lnTo>
                  <a:cubicBezTo>
                    <a:pt x="1491333" y="423243"/>
                    <a:pt x="1482026" y="445711"/>
                    <a:pt x="1465461" y="462277"/>
                  </a:cubicBezTo>
                  <a:cubicBezTo>
                    <a:pt x="1448895" y="478842"/>
                    <a:pt x="1426427" y="488149"/>
                    <a:pt x="1403000" y="488149"/>
                  </a:cubicBezTo>
                  <a:lnTo>
                    <a:pt x="88333" y="488149"/>
                  </a:lnTo>
                  <a:cubicBezTo>
                    <a:pt x="64906" y="488149"/>
                    <a:pt x="42438" y="478842"/>
                    <a:pt x="25872" y="462277"/>
                  </a:cubicBezTo>
                  <a:cubicBezTo>
                    <a:pt x="9306" y="445711"/>
                    <a:pt x="0" y="423243"/>
                    <a:pt x="0" y="399816"/>
                  </a:cubicBezTo>
                  <a:lnTo>
                    <a:pt x="0" y="88333"/>
                  </a:lnTo>
                  <a:cubicBezTo>
                    <a:pt x="0" y="64906"/>
                    <a:pt x="9306" y="42438"/>
                    <a:pt x="25872" y="25872"/>
                  </a:cubicBezTo>
                  <a:cubicBezTo>
                    <a:pt x="42438" y="9306"/>
                    <a:pt x="64906" y="0"/>
                    <a:pt x="88333" y="0"/>
                  </a:cubicBezTo>
                  <a:close/>
                </a:path>
              </a:pathLst>
            </a:custGeom>
            <a:solidFill>
              <a:srgbClr val="CEB3C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91333" cy="526249"/>
            </a:xfrm>
            <a:prstGeom prst="rect">
              <a:avLst/>
            </a:prstGeom>
          </p:spPr>
          <p:txBody>
            <a:bodyPr anchor="ctr" rtlCol="false" tIns="40101" lIns="40101" bIns="40101" rIns="4010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375092" y="8145145"/>
            <a:ext cx="4041876" cy="104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Powered by AI for smarter results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64342" y="7445030"/>
            <a:ext cx="3301429" cy="5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EDE0D1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5.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2914702"/>
            <a:ext cx="16230600" cy="196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Snooze is an AI-powered fashion discovery platform designed to make shopping easier and more personalized. Our platform helps users find exactly what they’re looking for, whether through image-based or text-based search. With Snooze, discover fashion in a whole new way.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0" y="199997"/>
              <a:ext cx="1591360" cy="109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4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-10690362">
            <a:off x="14516937" y="-1346836"/>
            <a:ext cx="4134546" cy="4890324"/>
          </a:xfrm>
          <a:custGeom>
            <a:avLst/>
            <a:gdLst/>
            <a:ahLst/>
            <a:cxnLst/>
            <a:rect r="r" b="b" t="t" l="l"/>
            <a:pathLst>
              <a:path h="4890324" w="4134546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665646">
            <a:off x="-607849" y="7151772"/>
            <a:ext cx="4135775" cy="4891777"/>
          </a:xfrm>
          <a:custGeom>
            <a:avLst/>
            <a:gdLst/>
            <a:ahLst/>
            <a:cxnLst/>
            <a:rect r="r" b="b" t="t" l="l"/>
            <a:pathLst>
              <a:path h="4891777" w="4135775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DE0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 descr="Abstract organic shape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bstract organic shape"/>
          <p:cNvSpPr/>
          <p:nvPr/>
        </p:nvSpPr>
        <p:spPr>
          <a:xfrm flipH="false" flipV="false" rot="-10690362">
            <a:off x="14516937" y="-1346836"/>
            <a:ext cx="4134546" cy="4890324"/>
          </a:xfrm>
          <a:custGeom>
            <a:avLst/>
            <a:gdLst/>
            <a:ahLst/>
            <a:cxnLst/>
            <a:rect r="r" b="b" t="t" l="l"/>
            <a:pathLst>
              <a:path h="4890324" w="4134546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Abstract organic shape"/>
          <p:cNvSpPr/>
          <p:nvPr/>
        </p:nvSpPr>
        <p:spPr>
          <a:xfrm flipH="false" flipV="false" rot="665646">
            <a:off x="-607849" y="7151772"/>
            <a:ext cx="4135775" cy="4891777"/>
          </a:xfrm>
          <a:custGeom>
            <a:avLst/>
            <a:gdLst/>
            <a:ahLst/>
            <a:cxnLst/>
            <a:rect r="r" b="b" t="t" l="l"/>
            <a:pathLst>
              <a:path h="4891777" w="4135775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1717555" y="863608"/>
            <a:ext cx="0" cy="8531086"/>
          </a:xfrm>
          <a:prstGeom prst="line">
            <a:avLst/>
          </a:prstGeom>
          <a:ln cap="rnd" w="19050">
            <a:solidFill>
              <a:srgbClr val="3F2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5400000">
            <a:off x="11552463" y="778499"/>
            <a:ext cx="330184" cy="309469"/>
            <a:chOff x="0" y="0"/>
            <a:chExt cx="6350000" cy="5951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951615"/>
            </a:xfrm>
            <a:custGeom>
              <a:avLst/>
              <a:gdLst/>
              <a:ahLst/>
              <a:cxnLst/>
              <a:rect r="r" b="b" t="t" l="l"/>
              <a:pathLst>
                <a:path h="5951615" w="6350000">
                  <a:moveTo>
                    <a:pt x="3175000" y="0"/>
                  </a:moveTo>
                  <a:cubicBezTo>
                    <a:pt x="1421496" y="0"/>
                    <a:pt x="0" y="1332315"/>
                    <a:pt x="0" y="2975808"/>
                  </a:cubicBezTo>
                  <a:cubicBezTo>
                    <a:pt x="0" y="4619301"/>
                    <a:pt x="1421496" y="5951615"/>
                    <a:pt x="3175000" y="5951615"/>
                  </a:cubicBezTo>
                  <a:cubicBezTo>
                    <a:pt x="4928504" y="5951615"/>
                    <a:pt x="6350000" y="4619301"/>
                    <a:pt x="6350000" y="2975808"/>
                  </a:cubicBezTo>
                  <a:cubicBezTo>
                    <a:pt x="6350000" y="133231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F2E3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1552463" y="3453429"/>
            <a:ext cx="330184" cy="309469"/>
            <a:chOff x="0" y="0"/>
            <a:chExt cx="6350000" cy="5951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951615"/>
            </a:xfrm>
            <a:custGeom>
              <a:avLst/>
              <a:gdLst/>
              <a:ahLst/>
              <a:cxnLst/>
              <a:rect r="r" b="b" t="t" l="l"/>
              <a:pathLst>
                <a:path h="5951615" w="6350000">
                  <a:moveTo>
                    <a:pt x="3175000" y="0"/>
                  </a:moveTo>
                  <a:cubicBezTo>
                    <a:pt x="1421496" y="0"/>
                    <a:pt x="0" y="1332315"/>
                    <a:pt x="0" y="2975808"/>
                  </a:cubicBezTo>
                  <a:cubicBezTo>
                    <a:pt x="0" y="4619301"/>
                    <a:pt x="1421496" y="5951615"/>
                    <a:pt x="3175000" y="5951615"/>
                  </a:cubicBezTo>
                  <a:cubicBezTo>
                    <a:pt x="4928504" y="5951615"/>
                    <a:pt x="6350000" y="4619301"/>
                    <a:pt x="6350000" y="2975808"/>
                  </a:cubicBezTo>
                  <a:cubicBezTo>
                    <a:pt x="6350000" y="133231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F2E3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1552463" y="6126762"/>
            <a:ext cx="330184" cy="309469"/>
            <a:chOff x="0" y="0"/>
            <a:chExt cx="6350000" cy="5951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5951615"/>
            </a:xfrm>
            <a:custGeom>
              <a:avLst/>
              <a:gdLst/>
              <a:ahLst/>
              <a:cxnLst/>
              <a:rect r="r" b="b" t="t" l="l"/>
              <a:pathLst>
                <a:path h="5951615" w="6350000">
                  <a:moveTo>
                    <a:pt x="3175000" y="0"/>
                  </a:moveTo>
                  <a:cubicBezTo>
                    <a:pt x="1421496" y="0"/>
                    <a:pt x="0" y="1332315"/>
                    <a:pt x="0" y="2975808"/>
                  </a:cubicBezTo>
                  <a:cubicBezTo>
                    <a:pt x="0" y="4619301"/>
                    <a:pt x="1421496" y="5951615"/>
                    <a:pt x="3175000" y="5951615"/>
                  </a:cubicBezTo>
                  <a:cubicBezTo>
                    <a:pt x="4928504" y="5951615"/>
                    <a:pt x="6350000" y="4619301"/>
                    <a:pt x="6350000" y="2975808"/>
                  </a:cubicBezTo>
                  <a:cubicBezTo>
                    <a:pt x="6350000" y="133231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F2E3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1552463" y="9074867"/>
            <a:ext cx="330184" cy="309469"/>
            <a:chOff x="0" y="0"/>
            <a:chExt cx="6350000" cy="59516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5951615"/>
            </a:xfrm>
            <a:custGeom>
              <a:avLst/>
              <a:gdLst/>
              <a:ahLst/>
              <a:cxnLst/>
              <a:rect r="r" b="b" t="t" l="l"/>
              <a:pathLst>
                <a:path h="5951615" w="6350000">
                  <a:moveTo>
                    <a:pt x="3175000" y="0"/>
                  </a:moveTo>
                  <a:cubicBezTo>
                    <a:pt x="1421496" y="0"/>
                    <a:pt x="0" y="1332315"/>
                    <a:pt x="0" y="2975808"/>
                  </a:cubicBezTo>
                  <a:cubicBezTo>
                    <a:pt x="0" y="4619301"/>
                    <a:pt x="1421496" y="5951615"/>
                    <a:pt x="3175000" y="5951615"/>
                  </a:cubicBezTo>
                  <a:cubicBezTo>
                    <a:pt x="4928504" y="5951615"/>
                    <a:pt x="6350000" y="4619301"/>
                    <a:pt x="6350000" y="2975808"/>
                  </a:cubicBezTo>
                  <a:cubicBezTo>
                    <a:pt x="6350000" y="1332315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F2E3E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379794" y="275065"/>
            <a:ext cx="1830602" cy="2440802"/>
          </a:xfrm>
          <a:custGeom>
            <a:avLst/>
            <a:gdLst/>
            <a:ahLst/>
            <a:cxnLst/>
            <a:rect r="r" b="b" t="t" l="l"/>
            <a:pathLst>
              <a:path h="2440802" w="1830602">
                <a:moveTo>
                  <a:pt x="0" y="0"/>
                </a:moveTo>
                <a:lnTo>
                  <a:pt x="1830602" y="0"/>
                </a:lnTo>
                <a:lnTo>
                  <a:pt x="1830602" y="2440802"/>
                </a:lnTo>
                <a:lnTo>
                  <a:pt x="0" y="24408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81840" y="2960163"/>
            <a:ext cx="2282624" cy="1626183"/>
          </a:xfrm>
          <a:custGeom>
            <a:avLst/>
            <a:gdLst/>
            <a:ahLst/>
            <a:cxnLst/>
            <a:rect r="r" b="b" t="t" l="l"/>
            <a:pathLst>
              <a:path h="1626183" w="2282624">
                <a:moveTo>
                  <a:pt x="0" y="0"/>
                </a:moveTo>
                <a:lnTo>
                  <a:pt x="2282623" y="0"/>
                </a:lnTo>
                <a:lnTo>
                  <a:pt x="2282623" y="1626183"/>
                </a:lnTo>
                <a:lnTo>
                  <a:pt x="0" y="16261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49370" y="5143500"/>
            <a:ext cx="2961025" cy="2067822"/>
          </a:xfrm>
          <a:custGeom>
            <a:avLst/>
            <a:gdLst/>
            <a:ahLst/>
            <a:cxnLst/>
            <a:rect r="r" b="b" t="t" l="l"/>
            <a:pathLst>
              <a:path h="2067822" w="2961025">
                <a:moveTo>
                  <a:pt x="0" y="0"/>
                </a:moveTo>
                <a:lnTo>
                  <a:pt x="2961026" y="0"/>
                </a:lnTo>
                <a:lnTo>
                  <a:pt x="2961026" y="2067822"/>
                </a:lnTo>
                <a:lnTo>
                  <a:pt x="0" y="20678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612" t="0" r="-15264" b="-7303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06883" y="8328322"/>
            <a:ext cx="3787463" cy="1472376"/>
          </a:xfrm>
          <a:custGeom>
            <a:avLst/>
            <a:gdLst/>
            <a:ahLst/>
            <a:cxnLst/>
            <a:rect r="r" b="b" t="t" l="l"/>
            <a:pathLst>
              <a:path h="1472376" w="3787463">
                <a:moveTo>
                  <a:pt x="0" y="0"/>
                </a:moveTo>
                <a:lnTo>
                  <a:pt x="3787464" y="0"/>
                </a:lnTo>
                <a:lnTo>
                  <a:pt x="3787464" y="1472376"/>
                </a:lnTo>
                <a:lnTo>
                  <a:pt x="0" y="14723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106883" y="187212"/>
            <a:ext cx="3364925" cy="2150454"/>
            <a:chOff x="0" y="0"/>
            <a:chExt cx="4486566" cy="286727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4486566" cy="131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Upload a Clothing photo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584029"/>
              <a:ext cx="4486566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Snap o</a:t>
              </a:r>
              <a:r>
                <a:rPr lang="en-US" sz="2799" u="none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 select any outfit image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991644" y="2860809"/>
            <a:ext cx="3364925" cy="2150454"/>
            <a:chOff x="0" y="0"/>
            <a:chExt cx="4486566" cy="2867272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4486566" cy="131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AI</a:t>
              </a: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 Analyzes the Image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584029"/>
              <a:ext cx="4486566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</a:t>
              </a:r>
              <a:r>
                <a:rPr lang="en-US" sz="2799" u="none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etects color, type, and style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24715" y="5011263"/>
            <a:ext cx="3364925" cy="2150454"/>
            <a:chOff x="0" y="0"/>
            <a:chExt cx="4486566" cy="2867272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4486566" cy="131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Finds Similar Styles Fast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584029"/>
              <a:ext cx="4486566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</a:t>
              </a:r>
              <a:r>
                <a:rPr lang="en-US" sz="2799" u="none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atches with visually alike items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91644" y="7989283"/>
            <a:ext cx="3364925" cy="2150454"/>
            <a:chOff x="0" y="0"/>
            <a:chExt cx="4486566" cy="2867272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28575"/>
              <a:ext cx="4486566" cy="131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B</a:t>
              </a: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rowse Multiple Retailers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1584029"/>
              <a:ext cx="4486566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Exp</a:t>
              </a:r>
              <a:r>
                <a:rPr lang="en-US" sz="2799" u="none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lore product links instantly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24560" y="2213841"/>
            <a:ext cx="6070724" cy="58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KEY FEATURES- IMAGE BASED SEARCH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0" y="199997"/>
              <a:ext cx="1591360" cy="109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78294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543050" y="1012422"/>
            <a:ext cx="15716250" cy="20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TECHNOLOGY STACK- IMAGE BASED SEARCH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6059" y="3635355"/>
            <a:ext cx="5853613" cy="1508145"/>
            <a:chOff x="0" y="0"/>
            <a:chExt cx="7804818" cy="2010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58750"/>
              <a:ext cx="645528" cy="629097"/>
            </a:xfrm>
            <a:custGeom>
              <a:avLst/>
              <a:gdLst/>
              <a:ahLst/>
              <a:cxnLst/>
              <a:rect r="r" b="b" t="t" l="l"/>
              <a:pathLst>
                <a:path h="629097" w="645528">
                  <a:moveTo>
                    <a:pt x="0" y="0"/>
                  </a:moveTo>
                  <a:lnTo>
                    <a:pt x="645528" y="0"/>
                  </a:lnTo>
                  <a:lnTo>
                    <a:pt x="645528" y="629097"/>
                  </a:lnTo>
                  <a:lnTo>
                    <a:pt x="0" y="629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191628" y="-9525"/>
              <a:ext cx="6613189" cy="666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IMAGE PROCESSING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91628" y="888966"/>
              <a:ext cx="6613189" cy="1121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sharp</a:t>
              </a:r>
              <a:r>
                <a:rPr lang="en-US" sz="24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for image manipulation (resizing, etc.)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6059" y="5687586"/>
            <a:ext cx="9005336" cy="4658661"/>
            <a:chOff x="0" y="0"/>
            <a:chExt cx="12007115" cy="62115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5528" cy="629097"/>
            </a:xfrm>
            <a:custGeom>
              <a:avLst/>
              <a:gdLst/>
              <a:ahLst/>
              <a:cxnLst/>
              <a:rect r="r" b="b" t="t" l="l"/>
              <a:pathLst>
                <a:path h="629097" w="645528">
                  <a:moveTo>
                    <a:pt x="0" y="0"/>
                  </a:moveTo>
                  <a:lnTo>
                    <a:pt x="645528" y="0"/>
                  </a:lnTo>
                  <a:lnTo>
                    <a:pt x="645528" y="629097"/>
                  </a:lnTo>
                  <a:lnTo>
                    <a:pt x="0" y="629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186715" y="25623"/>
              <a:ext cx="6613189" cy="666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Libraries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86715" y="905064"/>
              <a:ext cx="10820400" cy="5306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pandas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(f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or data handling)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numpy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(for numerical operations)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req</a:t>
              </a: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uests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(for fetching images from URLs)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PIL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(Python Imaging Library) (for image processing)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TensorFlow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,</a:t>
              </a: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 Keras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(for deep learning)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scikit-learn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(cosine similarity)</a:t>
              </a:r>
            </a:p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99221" y="3635355"/>
            <a:ext cx="5849928" cy="1096333"/>
            <a:chOff x="0" y="0"/>
            <a:chExt cx="7799904" cy="14617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5528" cy="629097"/>
            </a:xfrm>
            <a:custGeom>
              <a:avLst/>
              <a:gdLst/>
              <a:ahLst/>
              <a:cxnLst/>
              <a:rect r="r" b="b" t="t" l="l"/>
              <a:pathLst>
                <a:path h="629097" w="645528">
                  <a:moveTo>
                    <a:pt x="0" y="0"/>
                  </a:moveTo>
                  <a:lnTo>
                    <a:pt x="645528" y="0"/>
                  </a:lnTo>
                  <a:lnTo>
                    <a:pt x="645528" y="629097"/>
                  </a:lnTo>
                  <a:lnTo>
                    <a:pt x="0" y="629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86715" y="25623"/>
              <a:ext cx="6613189" cy="666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Programming Language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186715" y="924114"/>
              <a:ext cx="6613189" cy="537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Python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99221" y="5687586"/>
            <a:ext cx="5849928" cy="1648761"/>
            <a:chOff x="0" y="0"/>
            <a:chExt cx="7799904" cy="21983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5528" cy="629097"/>
            </a:xfrm>
            <a:custGeom>
              <a:avLst/>
              <a:gdLst/>
              <a:ahLst/>
              <a:cxnLst/>
              <a:rect r="r" b="b" t="t" l="l"/>
              <a:pathLst>
                <a:path h="629097" w="645528">
                  <a:moveTo>
                    <a:pt x="0" y="0"/>
                  </a:moveTo>
                  <a:lnTo>
                    <a:pt x="645528" y="0"/>
                  </a:lnTo>
                  <a:lnTo>
                    <a:pt x="645528" y="629097"/>
                  </a:lnTo>
                  <a:lnTo>
                    <a:pt x="0" y="6290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186715" y="25623"/>
              <a:ext cx="6613189" cy="666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</a:pPr>
              <a:r>
                <a:rPr lang="en-US" b="true" sz="32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Deep Learning Model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186715" y="905064"/>
              <a:ext cx="6613189" cy="1293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ResNet50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 (for feature Extraction)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479430" y="8596621"/>
            <a:ext cx="1193520" cy="8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b="true" sz="485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3</a:t>
            </a:r>
          </a:p>
        </p:txBody>
      </p:sp>
      <p:sp>
        <p:nvSpPr>
          <p:cNvPr name="Freeform 22" id="22" descr="Abstract organic shape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479430" y="8470436"/>
            <a:ext cx="1193520" cy="1830451"/>
            <a:chOff x="0" y="0"/>
            <a:chExt cx="1591360" cy="244060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199997"/>
              <a:ext cx="1591360" cy="2240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true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6</a:t>
              </a:r>
            </a:p>
            <a:p>
              <a:pPr algn="ctr">
                <a:lnSpc>
                  <a:spcPts val="679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DE0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 descr="Abstract organic shape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bstract organic shape"/>
          <p:cNvSpPr/>
          <p:nvPr/>
        </p:nvSpPr>
        <p:spPr>
          <a:xfrm flipH="false" flipV="false" rot="-10690362">
            <a:off x="14516937" y="-1346836"/>
            <a:ext cx="4134546" cy="4890324"/>
          </a:xfrm>
          <a:custGeom>
            <a:avLst/>
            <a:gdLst/>
            <a:ahLst/>
            <a:cxnLst/>
            <a:rect r="r" b="b" t="t" l="l"/>
            <a:pathLst>
              <a:path h="4890324" w="4134546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Abstract organic shape"/>
          <p:cNvSpPr/>
          <p:nvPr/>
        </p:nvSpPr>
        <p:spPr>
          <a:xfrm flipH="false" flipV="false" rot="665646">
            <a:off x="-607849" y="7151772"/>
            <a:ext cx="4135775" cy="4891777"/>
          </a:xfrm>
          <a:custGeom>
            <a:avLst/>
            <a:gdLst/>
            <a:ahLst/>
            <a:cxnLst/>
            <a:rect r="r" b="b" t="t" l="l"/>
            <a:pathLst>
              <a:path h="4891777" w="4135775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199997"/>
              <a:ext cx="1591360" cy="109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7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10959" y="3305849"/>
            <a:ext cx="3795599" cy="5312936"/>
            <a:chOff x="0" y="0"/>
            <a:chExt cx="5060799" cy="708391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060799" cy="3698540"/>
              <a:chOff x="0" y="0"/>
              <a:chExt cx="1112173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1217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2173">
                    <a:moveTo>
                      <a:pt x="79549" y="0"/>
                    </a:moveTo>
                    <a:lnTo>
                      <a:pt x="1032625" y="0"/>
                    </a:lnTo>
                    <a:cubicBezTo>
                      <a:pt x="1076558" y="0"/>
                      <a:pt x="1112173" y="35615"/>
                      <a:pt x="1112173" y="79549"/>
                    </a:cubicBezTo>
                    <a:lnTo>
                      <a:pt x="1112173" y="733251"/>
                    </a:lnTo>
                    <a:cubicBezTo>
                      <a:pt x="1112173" y="777185"/>
                      <a:pt x="1076558" y="812800"/>
                      <a:pt x="1032625" y="812800"/>
                    </a:cubicBezTo>
                    <a:lnTo>
                      <a:pt x="79549" y="812800"/>
                    </a:lnTo>
                    <a:cubicBezTo>
                      <a:pt x="35615" y="812800"/>
                      <a:pt x="0" y="777185"/>
                      <a:pt x="0" y="733251"/>
                    </a:cubicBezTo>
                    <a:lnTo>
                      <a:pt x="0" y="79549"/>
                    </a:lnTo>
                    <a:cubicBezTo>
                      <a:pt x="0" y="35615"/>
                      <a:pt x="35615" y="0"/>
                      <a:pt x="79549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4845" t="0" r="-4845" b="0"/>
                </a:stretch>
              </a:blipFill>
              <a:ln w="76200" cap="rnd">
                <a:solidFill>
                  <a:srgbClr val="A78294"/>
                </a:solidFill>
                <a:prstDash val="solid"/>
                <a:round/>
              </a:ln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599940" y="5800671"/>
              <a:ext cx="3860918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Type in fashion-related keywords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99940" y="4168440"/>
              <a:ext cx="3860918" cy="1219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Describe what you want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44708" y="3305849"/>
            <a:ext cx="3760065" cy="5300855"/>
            <a:chOff x="0" y="0"/>
            <a:chExt cx="5013421" cy="706780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13421" cy="3663915"/>
              <a:chOff x="0" y="0"/>
              <a:chExt cx="1112173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1217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2173">
                    <a:moveTo>
                      <a:pt x="80300" y="0"/>
                    </a:moveTo>
                    <a:lnTo>
                      <a:pt x="1031873" y="0"/>
                    </a:lnTo>
                    <a:cubicBezTo>
                      <a:pt x="1076222" y="0"/>
                      <a:pt x="1112173" y="35952"/>
                      <a:pt x="1112173" y="80300"/>
                    </a:cubicBezTo>
                    <a:lnTo>
                      <a:pt x="1112173" y="732500"/>
                    </a:lnTo>
                    <a:cubicBezTo>
                      <a:pt x="1112173" y="753797"/>
                      <a:pt x="1103713" y="774221"/>
                      <a:pt x="1088654" y="789281"/>
                    </a:cubicBezTo>
                    <a:cubicBezTo>
                      <a:pt x="1073595" y="804340"/>
                      <a:pt x="1053170" y="812800"/>
                      <a:pt x="1031873" y="812800"/>
                    </a:cubicBezTo>
                    <a:lnTo>
                      <a:pt x="80300" y="812800"/>
                    </a:lnTo>
                    <a:cubicBezTo>
                      <a:pt x="35952" y="812800"/>
                      <a:pt x="0" y="776848"/>
                      <a:pt x="0" y="732500"/>
                    </a:cubicBezTo>
                    <a:lnTo>
                      <a:pt x="0" y="80300"/>
                    </a:lnTo>
                    <a:cubicBezTo>
                      <a:pt x="0" y="35952"/>
                      <a:pt x="35952" y="0"/>
                      <a:pt x="803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291" t="0" r="-1291" b="0"/>
                </a:stretch>
              </a:blipFill>
              <a:ln w="76200" cap="rnd">
                <a:solidFill>
                  <a:srgbClr val="A78294"/>
                </a:solidFill>
                <a:prstDash val="solid"/>
                <a:round/>
              </a:ln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576251" y="5784563"/>
              <a:ext cx="3860918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Interprets style and colour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76251" y="4119677"/>
              <a:ext cx="3860918" cy="1219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AI understands your terms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46857" y="3305849"/>
            <a:ext cx="3760065" cy="5796200"/>
            <a:chOff x="0" y="0"/>
            <a:chExt cx="5013421" cy="772826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13421" cy="3663915"/>
              <a:chOff x="0" y="0"/>
              <a:chExt cx="1112173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1217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2173">
                    <a:moveTo>
                      <a:pt x="80300" y="0"/>
                    </a:moveTo>
                    <a:lnTo>
                      <a:pt x="1031873" y="0"/>
                    </a:lnTo>
                    <a:cubicBezTo>
                      <a:pt x="1076222" y="0"/>
                      <a:pt x="1112173" y="35952"/>
                      <a:pt x="1112173" y="80300"/>
                    </a:cubicBezTo>
                    <a:lnTo>
                      <a:pt x="1112173" y="732500"/>
                    </a:lnTo>
                    <a:cubicBezTo>
                      <a:pt x="1112173" y="753797"/>
                      <a:pt x="1103713" y="774221"/>
                      <a:pt x="1088654" y="789281"/>
                    </a:cubicBezTo>
                    <a:cubicBezTo>
                      <a:pt x="1073595" y="804340"/>
                      <a:pt x="1053170" y="812800"/>
                      <a:pt x="1031873" y="812800"/>
                    </a:cubicBezTo>
                    <a:lnTo>
                      <a:pt x="80300" y="812800"/>
                    </a:lnTo>
                    <a:cubicBezTo>
                      <a:pt x="35952" y="812800"/>
                      <a:pt x="0" y="776848"/>
                      <a:pt x="0" y="732500"/>
                    </a:cubicBezTo>
                    <a:lnTo>
                      <a:pt x="0" y="80300"/>
                    </a:lnTo>
                    <a:cubicBezTo>
                      <a:pt x="0" y="35952"/>
                      <a:pt x="35952" y="0"/>
                      <a:pt x="803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27335" t="0" r="-27335" b="0"/>
                </a:stretch>
              </a:blipFill>
              <a:ln w="76200" cap="rnd">
                <a:solidFill>
                  <a:srgbClr val="A78294"/>
                </a:solidFill>
                <a:prstDash val="solid"/>
                <a:round/>
              </a:ln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576251" y="5784563"/>
              <a:ext cx="3860918" cy="1943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Narrow by occasion and gender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76251" y="4119677"/>
              <a:ext cx="3860918" cy="1219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Smart Filter Refines results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041379" y="621915"/>
            <a:ext cx="12205242" cy="20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KEY FEATURES- TEXT BASED SEARCH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649006" y="3305849"/>
            <a:ext cx="3760065" cy="5300855"/>
            <a:chOff x="0" y="0"/>
            <a:chExt cx="5013421" cy="706780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313301" y="5784563"/>
              <a:ext cx="3860918" cy="12832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See items that fit your vision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0"/>
              <a:ext cx="5013421" cy="3663915"/>
              <a:chOff x="0" y="0"/>
              <a:chExt cx="1112173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1217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12173">
                    <a:moveTo>
                      <a:pt x="80300" y="0"/>
                    </a:moveTo>
                    <a:lnTo>
                      <a:pt x="1031873" y="0"/>
                    </a:lnTo>
                    <a:cubicBezTo>
                      <a:pt x="1076222" y="0"/>
                      <a:pt x="1112173" y="35952"/>
                      <a:pt x="1112173" y="80300"/>
                    </a:cubicBezTo>
                    <a:lnTo>
                      <a:pt x="1112173" y="732500"/>
                    </a:lnTo>
                    <a:cubicBezTo>
                      <a:pt x="1112173" y="753797"/>
                      <a:pt x="1103713" y="774221"/>
                      <a:pt x="1088654" y="789281"/>
                    </a:cubicBezTo>
                    <a:cubicBezTo>
                      <a:pt x="1073595" y="804340"/>
                      <a:pt x="1053170" y="812800"/>
                      <a:pt x="1031873" y="812800"/>
                    </a:cubicBezTo>
                    <a:lnTo>
                      <a:pt x="80300" y="812800"/>
                    </a:lnTo>
                    <a:cubicBezTo>
                      <a:pt x="35952" y="812800"/>
                      <a:pt x="0" y="776848"/>
                      <a:pt x="0" y="732500"/>
                    </a:cubicBezTo>
                    <a:lnTo>
                      <a:pt x="0" y="80300"/>
                    </a:lnTo>
                    <a:cubicBezTo>
                      <a:pt x="0" y="35952"/>
                      <a:pt x="35952" y="0"/>
                      <a:pt x="803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25424" t="0" r="-25424" b="0"/>
                </a:stretch>
              </a:blipFill>
              <a:ln w="76200" cap="rnd">
                <a:solidFill>
                  <a:srgbClr val="A78294"/>
                </a:solidFill>
                <a:prstDash val="solid"/>
                <a:round/>
              </a:ln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199695" y="4119677"/>
              <a:ext cx="4614031" cy="1219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Get Fast, Accurate Matches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78294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543050" y="1012422"/>
            <a:ext cx="15716250" cy="201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TECHNOLOGY STACK- TEXT BASED SEARCH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157701" y="4029723"/>
            <a:ext cx="484146" cy="471822"/>
          </a:xfrm>
          <a:custGeom>
            <a:avLst/>
            <a:gdLst/>
            <a:ahLst/>
            <a:cxnLst/>
            <a:rect r="r" b="b" t="t" l="l"/>
            <a:pathLst>
              <a:path h="471822" w="484146">
                <a:moveTo>
                  <a:pt x="0" y="0"/>
                </a:moveTo>
                <a:lnTo>
                  <a:pt x="484146" y="0"/>
                </a:lnTo>
                <a:lnTo>
                  <a:pt x="484146" y="471822"/>
                </a:lnTo>
                <a:lnTo>
                  <a:pt x="0" y="471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51422" y="3901135"/>
            <a:ext cx="4959892" cy="5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Programming Language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51422" y="4567860"/>
            <a:ext cx="4959892" cy="41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Python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61386" y="6427474"/>
            <a:ext cx="484146" cy="471822"/>
          </a:xfrm>
          <a:custGeom>
            <a:avLst/>
            <a:gdLst/>
            <a:ahLst/>
            <a:cxnLst/>
            <a:rect r="r" b="b" t="t" l="l"/>
            <a:pathLst>
              <a:path h="471822" w="484146">
                <a:moveTo>
                  <a:pt x="0" y="0"/>
                </a:moveTo>
                <a:lnTo>
                  <a:pt x="484146" y="0"/>
                </a:lnTo>
                <a:lnTo>
                  <a:pt x="484146" y="471822"/>
                </a:lnTo>
                <a:lnTo>
                  <a:pt x="0" y="471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51422" y="6444310"/>
            <a:ext cx="4959892" cy="5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Data Handling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51422" y="7091985"/>
            <a:ext cx="4959892" cy="4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pan</a:t>
            </a: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das (for data manipulation)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76686" y="3884299"/>
            <a:ext cx="484146" cy="471822"/>
          </a:xfrm>
          <a:custGeom>
            <a:avLst/>
            <a:gdLst/>
            <a:ahLst/>
            <a:cxnLst/>
            <a:rect r="r" b="b" t="t" l="l"/>
            <a:pathLst>
              <a:path h="471822" w="484146">
                <a:moveTo>
                  <a:pt x="0" y="0"/>
                </a:moveTo>
                <a:lnTo>
                  <a:pt x="484146" y="0"/>
                </a:lnTo>
                <a:lnTo>
                  <a:pt x="484146" y="471822"/>
                </a:lnTo>
                <a:lnTo>
                  <a:pt x="0" y="471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66722" y="3901135"/>
            <a:ext cx="4959892" cy="5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NLP Library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6722" y="4567860"/>
            <a:ext cx="4959892" cy="8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</a:t>
            </a:r>
            <a:r>
              <a:rPr lang="en-US" sz="24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entence Transformers ('all-MiniLM-L6-v2' model)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76686" y="6427474"/>
            <a:ext cx="484146" cy="471822"/>
          </a:xfrm>
          <a:custGeom>
            <a:avLst/>
            <a:gdLst/>
            <a:ahLst/>
            <a:cxnLst/>
            <a:rect r="r" b="b" t="t" l="l"/>
            <a:pathLst>
              <a:path h="471822" w="484146">
                <a:moveTo>
                  <a:pt x="0" y="0"/>
                </a:moveTo>
                <a:lnTo>
                  <a:pt x="484146" y="0"/>
                </a:lnTo>
                <a:lnTo>
                  <a:pt x="484146" y="471822"/>
                </a:lnTo>
                <a:lnTo>
                  <a:pt x="0" y="471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66722" y="6444310"/>
            <a:ext cx="4959892" cy="50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Similarity Measurement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66722" y="7091985"/>
            <a:ext cx="4959892" cy="4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scikit-learn (cosine similarity)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79430" y="8596621"/>
            <a:ext cx="1193520" cy="8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b="true" sz="485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3</a:t>
            </a:r>
          </a:p>
        </p:txBody>
      </p:sp>
      <p:sp>
        <p:nvSpPr>
          <p:cNvPr name="Freeform 18" id="18" descr="Abstract organic shape"/>
          <p:cNvSpPr/>
          <p:nvPr/>
        </p:nvSpPr>
        <p:spPr>
          <a:xfrm flipH="false" flipV="false" rot="10659771">
            <a:off x="16939064" y="7804610"/>
            <a:ext cx="3371126" cy="4478549"/>
          </a:xfrm>
          <a:custGeom>
            <a:avLst/>
            <a:gdLst/>
            <a:ahLst/>
            <a:cxnLst/>
            <a:rect r="r" b="b" t="t" l="l"/>
            <a:pathLst>
              <a:path h="4478549" w="3371126">
                <a:moveTo>
                  <a:pt x="0" y="0"/>
                </a:moveTo>
                <a:lnTo>
                  <a:pt x="3371126" y="0"/>
                </a:lnTo>
                <a:lnTo>
                  <a:pt x="3371126" y="4478549"/>
                </a:lnTo>
                <a:lnTo>
                  <a:pt x="0" y="4478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479430" y="8470436"/>
            <a:ext cx="1193520" cy="1159060"/>
            <a:chOff x="0" y="0"/>
            <a:chExt cx="1591360" cy="154541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0" y="199997"/>
              <a:ext cx="1591360" cy="1073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065218"/>
            <a:ext cx="5039109" cy="4720605"/>
            <a:chOff x="0" y="0"/>
            <a:chExt cx="6718812" cy="629414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048137"/>
              <a:ext cx="6718812" cy="52460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Intuitive and easy-to-navigate interface</a:t>
              </a:r>
            </a:p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Clean and visually appealing design</a:t>
              </a:r>
            </a:p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Smooth process for both image and text search</a:t>
              </a:r>
            </a:p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Clear presentation of search results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6718812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Goal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90546" y="1402545"/>
            <a:ext cx="14106909" cy="100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1"/>
              </a:lnSpc>
            </a:pPr>
            <a:r>
              <a:rPr lang="en-US" b="true" sz="6501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DESIGN AND USER EXPERIENCE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24446" y="5391798"/>
            <a:ext cx="5039109" cy="2243745"/>
            <a:chOff x="0" y="0"/>
            <a:chExt cx="6718812" cy="29916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048137"/>
              <a:ext cx="6718812" cy="1943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Flask for </a:t>
              </a: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Powering the API and server-side logic that supports the search functionality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6718812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Backend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16004" y="5547007"/>
            <a:ext cx="5039109" cy="2739045"/>
            <a:chOff x="0" y="0"/>
            <a:chExt cx="6718812" cy="365206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048137"/>
              <a:ext cx="6718812" cy="2603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</a:pPr>
            </a:p>
            <a:p>
              <a:pPr algn="ctr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HTML, CSS, JavaScript: Core technologies for web structure, styling, and interactivity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6718812" cy="761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759"/>
                </a:lnSpc>
              </a:pPr>
              <a:r>
                <a:rPr lang="en-US" b="true" sz="3399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Frontend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3984782"/>
            <a:ext cx="16230600" cy="381000"/>
            <a:chOff x="0" y="0"/>
            <a:chExt cx="21640800" cy="508000"/>
          </a:xfrm>
        </p:grpSpPr>
        <p:sp>
          <p:nvSpPr>
            <p:cNvPr name="AutoShape 14" id="14"/>
            <p:cNvSpPr/>
            <p:nvPr/>
          </p:nvSpPr>
          <p:spPr>
            <a:xfrm rot="0">
              <a:off x="0" y="228600"/>
              <a:ext cx="21640800" cy="50800"/>
            </a:xfrm>
            <a:prstGeom prst="rect">
              <a:avLst/>
            </a:prstGeom>
            <a:solidFill>
              <a:srgbClr val="A78294"/>
            </a:solidFill>
          </p:spPr>
        </p:sp>
        <p:sp>
          <p:nvSpPr>
            <p:cNvPr name="AutoShape 15" id="15"/>
            <p:cNvSpPr/>
            <p:nvPr/>
          </p:nvSpPr>
          <p:spPr>
            <a:xfrm rot="0">
              <a:off x="1810006" y="0"/>
              <a:ext cx="3098800" cy="508000"/>
            </a:xfrm>
            <a:prstGeom prst="rect">
              <a:avLst/>
            </a:prstGeom>
            <a:solidFill>
              <a:srgbClr val="3F2E3E"/>
            </a:solidFill>
          </p:spPr>
        </p:sp>
        <p:sp>
          <p:nvSpPr>
            <p:cNvPr name="AutoShape 16" id="16"/>
            <p:cNvSpPr/>
            <p:nvPr/>
          </p:nvSpPr>
          <p:spPr>
            <a:xfrm rot="0">
              <a:off x="9271000" y="0"/>
              <a:ext cx="3098800" cy="508000"/>
            </a:xfrm>
            <a:prstGeom prst="rect">
              <a:avLst/>
            </a:prstGeom>
            <a:solidFill>
              <a:srgbClr val="3F2E3E"/>
            </a:solidFill>
          </p:spPr>
        </p:sp>
        <p:sp>
          <p:nvSpPr>
            <p:cNvPr name="AutoShape 17" id="17"/>
            <p:cNvSpPr/>
            <p:nvPr/>
          </p:nvSpPr>
          <p:spPr>
            <a:xfrm rot="0">
              <a:off x="16731994" y="0"/>
              <a:ext cx="3098800" cy="508000"/>
            </a:xfrm>
            <a:prstGeom prst="rect">
              <a:avLst/>
            </a:prstGeom>
            <a:solidFill>
              <a:srgbClr val="3F2E3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914615" y="9127940"/>
            <a:ext cx="1193520" cy="1812741"/>
            <a:chOff x="0" y="0"/>
            <a:chExt cx="1591360" cy="241698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199997"/>
              <a:ext cx="1591360" cy="2216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sz="4850" b="true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9</a:t>
              </a:r>
            </a:p>
            <a:p>
              <a:pPr algn="ctr">
                <a:lnSpc>
                  <a:spcPts val="679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DE0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 descr="Abstract organic shape"/>
          <p:cNvSpPr/>
          <p:nvPr/>
        </p:nvSpPr>
        <p:spPr>
          <a:xfrm flipH="false" flipV="false" rot="-10690362">
            <a:off x="14516937" y="-1346836"/>
            <a:ext cx="4134546" cy="4890324"/>
          </a:xfrm>
          <a:custGeom>
            <a:avLst/>
            <a:gdLst/>
            <a:ahLst/>
            <a:cxnLst/>
            <a:rect r="r" b="b" t="t" l="l"/>
            <a:pathLst>
              <a:path h="4890324" w="4134546">
                <a:moveTo>
                  <a:pt x="0" y="0"/>
                </a:moveTo>
                <a:lnTo>
                  <a:pt x="4134546" y="0"/>
                </a:lnTo>
                <a:lnTo>
                  <a:pt x="4134546" y="4890323"/>
                </a:lnTo>
                <a:lnTo>
                  <a:pt x="0" y="4890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Abstract organic shape"/>
          <p:cNvSpPr/>
          <p:nvPr/>
        </p:nvSpPr>
        <p:spPr>
          <a:xfrm flipH="false" flipV="false" rot="665646">
            <a:off x="-607849" y="7151772"/>
            <a:ext cx="4135775" cy="4891777"/>
          </a:xfrm>
          <a:custGeom>
            <a:avLst/>
            <a:gdLst/>
            <a:ahLst/>
            <a:cxnLst/>
            <a:rect r="r" b="b" t="t" l="l"/>
            <a:pathLst>
              <a:path h="4891777" w="4135775">
                <a:moveTo>
                  <a:pt x="0" y="0"/>
                </a:moveTo>
                <a:lnTo>
                  <a:pt x="4135775" y="0"/>
                </a:lnTo>
                <a:lnTo>
                  <a:pt x="4135775" y="4891776"/>
                </a:lnTo>
                <a:lnTo>
                  <a:pt x="0" y="4891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143782" y="3657025"/>
            <a:ext cx="5445440" cy="5445418"/>
            <a:chOff x="0" y="0"/>
            <a:chExt cx="6350000" cy="6349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-19201" t="0" r="-1920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820870" y="9163050"/>
            <a:ext cx="1193520" cy="8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b="true" sz="485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336139" y="8346303"/>
            <a:ext cx="9074965" cy="1251357"/>
            <a:chOff x="0" y="0"/>
            <a:chExt cx="12099953" cy="166847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4194462" y="22981"/>
              <a:ext cx="7905492" cy="666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Dr</a:t>
              </a: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ive trends and user engagement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76200"/>
              <a:ext cx="4079966" cy="1744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Fashion Influencers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820870" y="8971981"/>
            <a:ext cx="1193520" cy="1159060"/>
            <a:chOff x="0" y="0"/>
            <a:chExt cx="1591360" cy="154541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22973" y="0"/>
              <a:ext cx="1545414" cy="154541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EB3C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99997"/>
              <a:ext cx="1591360" cy="109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0"/>
                </a:lnSpc>
              </a:pPr>
              <a:r>
                <a:rPr lang="en-US" b="true" sz="485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10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305855" y="1193575"/>
            <a:ext cx="13676290" cy="149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05"/>
              </a:lnSpc>
            </a:pPr>
            <a:r>
              <a:rPr lang="en-US" b="true" sz="10368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STAKEHOLDERS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329613" y="3368316"/>
            <a:ext cx="9074965" cy="577419"/>
            <a:chOff x="0" y="0"/>
            <a:chExt cx="12099953" cy="76989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4194462" y="22981"/>
              <a:ext cx="7905492" cy="666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Fashion enthusiasts, shoppers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76200"/>
              <a:ext cx="4079966" cy="846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End- Users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29613" y="4298078"/>
            <a:ext cx="9088017" cy="1524067"/>
            <a:chOff x="0" y="0"/>
            <a:chExt cx="12117356" cy="2032090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4211864" y="-57150"/>
              <a:ext cx="7905492" cy="2089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Br</a:t>
              </a: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ands listed or partnered on the platform. Increased product visibility, sales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05607"/>
              <a:ext cx="4079966" cy="1744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Fashion Retailers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329613" y="6007636"/>
            <a:ext cx="9088017" cy="1925296"/>
            <a:chOff x="0" y="0"/>
            <a:chExt cx="12117356" cy="2567061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4211864" y="438980"/>
              <a:ext cx="7905492" cy="1378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Build </a:t>
              </a:r>
              <a:r>
                <a:rPr lang="en-US" sz="3000">
                  <a:solidFill>
                    <a:srgbClr val="331C2C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and maintain the product features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76200"/>
              <a:ext cx="4079966" cy="26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331C2C"/>
                  </a:solidFill>
                  <a:latin typeface="Cooper BT Bold"/>
                  <a:ea typeface="Cooper BT Bold"/>
                  <a:cs typeface="Cooper BT Bold"/>
                  <a:sym typeface="Cooper BT Bold"/>
                </a:rPr>
                <a:t>Developers and Designers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0">
            <a:off x="-1889093" y="-1787536"/>
            <a:ext cx="3105152" cy="4125202"/>
          </a:xfrm>
          <a:custGeom>
            <a:avLst/>
            <a:gdLst/>
            <a:ahLst/>
            <a:cxnLst/>
            <a:rect r="r" b="b" t="t" l="l"/>
            <a:pathLst>
              <a:path h="4125202" w="3105152">
                <a:moveTo>
                  <a:pt x="0" y="0"/>
                </a:moveTo>
                <a:lnTo>
                  <a:pt x="3105152" y="0"/>
                </a:lnTo>
                <a:lnTo>
                  <a:pt x="3105152" y="4125202"/>
                </a:lnTo>
                <a:lnTo>
                  <a:pt x="0" y="412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700" y="2987778"/>
            <a:ext cx="18300700" cy="7299222"/>
            <a:chOff x="0" y="0"/>
            <a:chExt cx="4819937" cy="19224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9938" cy="1922429"/>
            </a:xfrm>
            <a:custGeom>
              <a:avLst/>
              <a:gdLst/>
              <a:ahLst/>
              <a:cxnLst/>
              <a:rect r="r" b="b" t="t" l="l"/>
              <a:pathLst>
                <a:path h="1922429" w="4819938">
                  <a:moveTo>
                    <a:pt x="0" y="0"/>
                  </a:moveTo>
                  <a:lnTo>
                    <a:pt x="4819938" y="0"/>
                  </a:lnTo>
                  <a:lnTo>
                    <a:pt x="4819938" y="1922429"/>
                  </a:lnTo>
                  <a:lnTo>
                    <a:pt x="0" y="1922429"/>
                  </a:lnTo>
                  <a:close/>
                </a:path>
              </a:pathLst>
            </a:custGeom>
            <a:solidFill>
              <a:srgbClr val="C29CA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9937" cy="1979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662540" y="8961656"/>
            <a:ext cx="1193520" cy="829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b="true" sz="485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9208" y="6489999"/>
            <a:ext cx="6468792" cy="299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5"/>
              </a:lnSpc>
            </a:pPr>
            <a:r>
              <a:rPr lang="en-US" b="true" sz="3403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Cat</a:t>
            </a:r>
            <a:r>
              <a:rPr lang="en-US" b="true" sz="3403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egory Expansion</a:t>
            </a:r>
          </a:p>
          <a:p>
            <a:pPr algn="ctr" marL="0" indent="0" lvl="0">
              <a:lnSpc>
                <a:spcPts val="4765"/>
              </a:lnSpc>
            </a:pPr>
            <a:r>
              <a:rPr lang="en-US" sz="340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• Add accessories, footwear, more</a:t>
            </a:r>
          </a:p>
          <a:p>
            <a:pPr algn="ctr" marL="0" indent="0" lvl="0">
              <a:lnSpc>
                <a:spcPts val="4765"/>
              </a:lnSpc>
            </a:pPr>
            <a:r>
              <a:rPr lang="en-US" sz="340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• Broaden appeal and engagement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524" y="7168450"/>
            <a:ext cx="2397071" cy="1327378"/>
          </a:xfrm>
          <a:custGeom>
            <a:avLst/>
            <a:gdLst/>
            <a:ahLst/>
            <a:cxnLst/>
            <a:rect r="r" b="b" t="t" l="l"/>
            <a:pathLst>
              <a:path h="1327378" w="2397071">
                <a:moveTo>
                  <a:pt x="0" y="0"/>
                </a:moveTo>
                <a:lnTo>
                  <a:pt x="2397070" y="0"/>
                </a:lnTo>
                <a:lnTo>
                  <a:pt x="2397070" y="1327378"/>
                </a:lnTo>
                <a:lnTo>
                  <a:pt x="0" y="13273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539534" y="7600375"/>
            <a:ext cx="1456531" cy="1456531"/>
          </a:xfrm>
          <a:custGeom>
            <a:avLst/>
            <a:gdLst/>
            <a:ahLst/>
            <a:cxnLst/>
            <a:rect r="r" b="b" t="t" l="l"/>
            <a:pathLst>
              <a:path h="1456531" w="1456531">
                <a:moveTo>
                  <a:pt x="0" y="0"/>
                </a:moveTo>
                <a:lnTo>
                  <a:pt x="1456530" y="0"/>
                </a:lnTo>
                <a:lnTo>
                  <a:pt x="1456530" y="1456531"/>
                </a:lnTo>
                <a:lnTo>
                  <a:pt x="0" y="1456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1564" y="3287782"/>
            <a:ext cx="1688990" cy="1665766"/>
          </a:xfrm>
          <a:custGeom>
            <a:avLst/>
            <a:gdLst/>
            <a:ahLst/>
            <a:cxnLst/>
            <a:rect r="r" b="b" t="t" l="l"/>
            <a:pathLst>
              <a:path h="1665766" w="1688990">
                <a:moveTo>
                  <a:pt x="0" y="0"/>
                </a:moveTo>
                <a:lnTo>
                  <a:pt x="1688990" y="0"/>
                </a:lnTo>
                <a:lnTo>
                  <a:pt x="1688990" y="1665766"/>
                </a:lnTo>
                <a:lnTo>
                  <a:pt x="0" y="1665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0539534" y="3512254"/>
            <a:ext cx="1523164" cy="1441294"/>
          </a:xfrm>
          <a:custGeom>
            <a:avLst/>
            <a:gdLst/>
            <a:ahLst/>
            <a:cxnLst/>
            <a:rect r="r" b="b" t="t" l="l"/>
            <a:pathLst>
              <a:path h="1441294" w="1523164">
                <a:moveTo>
                  <a:pt x="0" y="0"/>
                </a:moveTo>
                <a:lnTo>
                  <a:pt x="1523164" y="0"/>
                </a:lnTo>
                <a:lnTo>
                  <a:pt x="1523164" y="1441294"/>
                </a:lnTo>
                <a:lnTo>
                  <a:pt x="0" y="14412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1996064" y="3221107"/>
            <a:ext cx="4898005" cy="238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5"/>
              </a:lnSpc>
            </a:pPr>
            <a:r>
              <a:rPr lang="en-US" b="true" sz="3403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Sty</a:t>
            </a:r>
            <a:r>
              <a:rPr lang="en-US" b="true" sz="3403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le Advice </a:t>
            </a:r>
          </a:p>
          <a:p>
            <a:pPr algn="ctr" marL="0" indent="0" lvl="0">
              <a:lnSpc>
                <a:spcPts val="4765"/>
              </a:lnSpc>
            </a:pPr>
            <a:r>
              <a:rPr lang="en-US" sz="340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• Outfit pairing suggestions via AI</a:t>
            </a:r>
          </a:p>
          <a:p>
            <a:pPr algn="ctr" marL="0" indent="0" lvl="0">
              <a:lnSpc>
                <a:spcPts val="4765"/>
              </a:lnSpc>
            </a:pPr>
            <a:r>
              <a:rPr lang="en-US" sz="340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5706" y="7036310"/>
            <a:ext cx="605812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0"/>
              </a:lnSpc>
            </a:pPr>
            <a:r>
              <a:rPr lang="en-US" b="true" sz="34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</a:t>
            </a:r>
            <a:r>
              <a:rPr lang="en-US" b="true" sz="34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ocial Media Integration</a:t>
            </a:r>
          </a:p>
          <a:p>
            <a:pPr algn="ctr" marL="0" indent="0" lvl="0">
              <a:lnSpc>
                <a:spcPts val="4760"/>
              </a:lnSpc>
            </a:pPr>
            <a:r>
              <a:rPr lang="en-US" sz="34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• Share finds directly to platforms</a:t>
            </a:r>
          </a:p>
          <a:p>
            <a:pPr algn="ctr" marL="0" indent="0" lvl="0">
              <a:lnSpc>
                <a:spcPts val="4760"/>
              </a:lnSpc>
            </a:pPr>
            <a:r>
              <a:rPr lang="en-US" sz="34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 • Discover trending styles via tags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21952" y="1423652"/>
            <a:ext cx="13844095" cy="91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30"/>
              </a:lnSpc>
            </a:pPr>
            <a:r>
              <a:rPr lang="en-US" b="true" sz="66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FUTURE POTENTIAL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14594" y="3340399"/>
            <a:ext cx="7116370" cy="224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Supporting Sustainable and Ethical Small Businesses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Connecting consumers with eco-conscious, responsible brands.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0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organic shape"/>
          <p:cNvSpPr/>
          <p:nvPr/>
        </p:nvSpPr>
        <p:spPr>
          <a:xfrm flipH="false" flipV="false" rot="746247">
            <a:off x="-1156514" y="5381726"/>
            <a:ext cx="6088034" cy="7200900"/>
          </a:xfrm>
          <a:custGeom>
            <a:avLst/>
            <a:gdLst/>
            <a:ahLst/>
            <a:cxnLst/>
            <a:rect r="r" b="b" t="t" l="l"/>
            <a:pathLst>
              <a:path h="7200900" w="6088034">
                <a:moveTo>
                  <a:pt x="0" y="0"/>
                </a:moveTo>
                <a:lnTo>
                  <a:pt x="6088034" y="0"/>
                </a:lnTo>
                <a:lnTo>
                  <a:pt x="608803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Abstract organic shape"/>
          <p:cNvSpPr/>
          <p:nvPr/>
        </p:nvSpPr>
        <p:spPr>
          <a:xfrm flipH="false" flipV="false" rot="0">
            <a:off x="-1889093" y="-2025661"/>
            <a:ext cx="4010284" cy="5327672"/>
          </a:xfrm>
          <a:custGeom>
            <a:avLst/>
            <a:gdLst/>
            <a:ahLst/>
            <a:cxnLst/>
            <a:rect r="r" b="b" t="t" l="l"/>
            <a:pathLst>
              <a:path h="5327672" w="4010284">
                <a:moveTo>
                  <a:pt x="0" y="0"/>
                </a:moveTo>
                <a:lnTo>
                  <a:pt x="4010284" y="0"/>
                </a:lnTo>
                <a:lnTo>
                  <a:pt x="4010284" y="5327672"/>
                </a:lnTo>
                <a:lnTo>
                  <a:pt x="0" y="5327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638078" y="4448905"/>
            <a:ext cx="4722745" cy="1389189"/>
            <a:chOff x="0" y="0"/>
            <a:chExt cx="6296994" cy="1852253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10800000">
              <a:off x="0" y="0"/>
              <a:ext cx="1848345" cy="1848345"/>
              <a:chOff x="0" y="0"/>
              <a:chExt cx="2653030" cy="265303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653030" cy="2654300"/>
              </a:xfrm>
              <a:custGeom>
                <a:avLst/>
                <a:gdLst/>
                <a:ahLst/>
                <a:cxnLst/>
                <a:rect r="r" b="b" t="t" l="l"/>
                <a:pathLst>
                  <a:path h="2654300" w="2653030">
                    <a:moveTo>
                      <a:pt x="0" y="1535430"/>
                    </a:moveTo>
                    <a:lnTo>
                      <a:pt x="0" y="1463040"/>
                    </a:lnTo>
                    <a:lnTo>
                      <a:pt x="1463040" y="0"/>
                    </a:lnTo>
                    <a:lnTo>
                      <a:pt x="1535430" y="0"/>
                    </a:lnTo>
                    <a:lnTo>
                      <a:pt x="0" y="1535430"/>
                    </a:lnTo>
                    <a:close/>
                    <a:moveTo>
                      <a:pt x="1681480" y="0"/>
                    </a:moveTo>
                    <a:lnTo>
                      <a:pt x="1609090" y="0"/>
                    </a:lnTo>
                    <a:lnTo>
                      <a:pt x="0" y="1607820"/>
                    </a:lnTo>
                    <a:lnTo>
                      <a:pt x="0" y="1680210"/>
                    </a:lnTo>
                    <a:lnTo>
                      <a:pt x="1681480" y="0"/>
                    </a:lnTo>
                    <a:close/>
                    <a:moveTo>
                      <a:pt x="1390650" y="0"/>
                    </a:moveTo>
                    <a:lnTo>
                      <a:pt x="1318260" y="0"/>
                    </a:lnTo>
                    <a:lnTo>
                      <a:pt x="0" y="1318260"/>
                    </a:lnTo>
                    <a:lnTo>
                      <a:pt x="0" y="1390650"/>
                    </a:lnTo>
                    <a:lnTo>
                      <a:pt x="1390650" y="0"/>
                    </a:lnTo>
                    <a:close/>
                    <a:moveTo>
                      <a:pt x="1245870" y="0"/>
                    </a:moveTo>
                    <a:lnTo>
                      <a:pt x="1173480" y="0"/>
                    </a:lnTo>
                    <a:lnTo>
                      <a:pt x="0" y="1173480"/>
                    </a:lnTo>
                    <a:lnTo>
                      <a:pt x="0" y="1245870"/>
                    </a:lnTo>
                    <a:lnTo>
                      <a:pt x="1245870" y="0"/>
                    </a:lnTo>
                    <a:close/>
                    <a:moveTo>
                      <a:pt x="1826260" y="0"/>
                    </a:moveTo>
                    <a:lnTo>
                      <a:pt x="1753870" y="0"/>
                    </a:lnTo>
                    <a:lnTo>
                      <a:pt x="0" y="1753870"/>
                    </a:lnTo>
                    <a:lnTo>
                      <a:pt x="0" y="1826260"/>
                    </a:lnTo>
                    <a:lnTo>
                      <a:pt x="1826260" y="0"/>
                    </a:lnTo>
                    <a:close/>
                    <a:moveTo>
                      <a:pt x="2260600" y="0"/>
                    </a:moveTo>
                    <a:lnTo>
                      <a:pt x="2188210" y="0"/>
                    </a:lnTo>
                    <a:lnTo>
                      <a:pt x="0" y="2188210"/>
                    </a:lnTo>
                    <a:lnTo>
                      <a:pt x="0" y="2260600"/>
                    </a:lnTo>
                    <a:lnTo>
                      <a:pt x="2260600" y="0"/>
                    </a:lnTo>
                    <a:close/>
                    <a:moveTo>
                      <a:pt x="2551430" y="0"/>
                    </a:moveTo>
                    <a:lnTo>
                      <a:pt x="2479040" y="0"/>
                    </a:lnTo>
                    <a:lnTo>
                      <a:pt x="0" y="2479040"/>
                    </a:lnTo>
                    <a:lnTo>
                      <a:pt x="0" y="2551430"/>
                    </a:lnTo>
                    <a:lnTo>
                      <a:pt x="2551430" y="0"/>
                    </a:lnTo>
                    <a:close/>
                    <a:moveTo>
                      <a:pt x="2405380" y="0"/>
                    </a:moveTo>
                    <a:lnTo>
                      <a:pt x="2332990" y="0"/>
                    </a:lnTo>
                    <a:lnTo>
                      <a:pt x="0" y="2332990"/>
                    </a:lnTo>
                    <a:lnTo>
                      <a:pt x="0" y="2405380"/>
                    </a:lnTo>
                    <a:lnTo>
                      <a:pt x="2405380" y="0"/>
                    </a:lnTo>
                    <a:close/>
                    <a:moveTo>
                      <a:pt x="2115820" y="0"/>
                    </a:moveTo>
                    <a:lnTo>
                      <a:pt x="2043430" y="0"/>
                    </a:lnTo>
                    <a:lnTo>
                      <a:pt x="0" y="2043430"/>
                    </a:lnTo>
                    <a:lnTo>
                      <a:pt x="0" y="2115820"/>
                    </a:lnTo>
                    <a:lnTo>
                      <a:pt x="2115820" y="0"/>
                    </a:lnTo>
                    <a:close/>
                    <a:moveTo>
                      <a:pt x="375920" y="0"/>
                    </a:moveTo>
                    <a:lnTo>
                      <a:pt x="303530" y="0"/>
                    </a:lnTo>
                    <a:lnTo>
                      <a:pt x="0" y="303530"/>
                    </a:lnTo>
                    <a:lnTo>
                      <a:pt x="0" y="375920"/>
                    </a:lnTo>
                    <a:lnTo>
                      <a:pt x="375920" y="0"/>
                    </a:lnTo>
                    <a:close/>
                    <a:moveTo>
                      <a:pt x="1101090" y="0"/>
                    </a:moveTo>
                    <a:lnTo>
                      <a:pt x="1028700" y="0"/>
                    </a:lnTo>
                    <a:lnTo>
                      <a:pt x="0" y="1028700"/>
                    </a:lnTo>
                    <a:lnTo>
                      <a:pt x="0" y="1101090"/>
                    </a:lnTo>
                    <a:lnTo>
                      <a:pt x="1101090" y="0"/>
                    </a:lnTo>
                    <a:close/>
                    <a:moveTo>
                      <a:pt x="2653030" y="0"/>
                    </a:moveTo>
                    <a:lnTo>
                      <a:pt x="2623820" y="0"/>
                    </a:lnTo>
                    <a:lnTo>
                      <a:pt x="0" y="2623820"/>
                    </a:lnTo>
                    <a:lnTo>
                      <a:pt x="0" y="2653030"/>
                    </a:lnTo>
                    <a:lnTo>
                      <a:pt x="43180" y="2653030"/>
                    </a:lnTo>
                    <a:lnTo>
                      <a:pt x="2653030" y="43180"/>
                    </a:lnTo>
                    <a:lnTo>
                      <a:pt x="2653030" y="0"/>
                    </a:lnTo>
                    <a:close/>
                    <a:moveTo>
                      <a:pt x="520700" y="0"/>
                    </a:moveTo>
                    <a:lnTo>
                      <a:pt x="448310" y="0"/>
                    </a:lnTo>
                    <a:lnTo>
                      <a:pt x="0" y="448310"/>
                    </a:lnTo>
                    <a:lnTo>
                      <a:pt x="0" y="520700"/>
                    </a:lnTo>
                    <a:lnTo>
                      <a:pt x="520700" y="0"/>
                    </a:lnTo>
                    <a:close/>
                    <a:moveTo>
                      <a:pt x="85090" y="0"/>
                    </a:moveTo>
                    <a:lnTo>
                      <a:pt x="12700" y="0"/>
                    </a:lnTo>
                    <a:lnTo>
                      <a:pt x="0" y="12700"/>
                    </a:lnTo>
                    <a:lnTo>
                      <a:pt x="0" y="85090"/>
                    </a:lnTo>
                    <a:lnTo>
                      <a:pt x="85090" y="0"/>
                    </a:lnTo>
                    <a:close/>
                    <a:moveTo>
                      <a:pt x="231140" y="0"/>
                    </a:moveTo>
                    <a:lnTo>
                      <a:pt x="158750" y="0"/>
                    </a:lnTo>
                    <a:lnTo>
                      <a:pt x="0" y="157480"/>
                    </a:lnTo>
                    <a:lnTo>
                      <a:pt x="0" y="229870"/>
                    </a:lnTo>
                    <a:lnTo>
                      <a:pt x="231140" y="0"/>
                    </a:lnTo>
                    <a:close/>
                    <a:moveTo>
                      <a:pt x="0" y="956310"/>
                    </a:moveTo>
                    <a:lnTo>
                      <a:pt x="956310" y="0"/>
                    </a:lnTo>
                    <a:lnTo>
                      <a:pt x="883920" y="0"/>
                    </a:lnTo>
                    <a:lnTo>
                      <a:pt x="0" y="882650"/>
                    </a:lnTo>
                    <a:lnTo>
                      <a:pt x="0" y="956310"/>
                    </a:lnTo>
                    <a:close/>
                    <a:moveTo>
                      <a:pt x="665480" y="0"/>
                    </a:moveTo>
                    <a:lnTo>
                      <a:pt x="593090" y="0"/>
                    </a:lnTo>
                    <a:lnTo>
                      <a:pt x="0" y="593090"/>
                    </a:lnTo>
                    <a:lnTo>
                      <a:pt x="0" y="665480"/>
                    </a:lnTo>
                    <a:lnTo>
                      <a:pt x="665480" y="0"/>
                    </a:lnTo>
                    <a:close/>
                    <a:moveTo>
                      <a:pt x="810260" y="0"/>
                    </a:moveTo>
                    <a:lnTo>
                      <a:pt x="737870" y="0"/>
                    </a:lnTo>
                    <a:lnTo>
                      <a:pt x="0" y="737870"/>
                    </a:lnTo>
                    <a:lnTo>
                      <a:pt x="0" y="810260"/>
                    </a:lnTo>
                    <a:lnTo>
                      <a:pt x="810260" y="0"/>
                    </a:lnTo>
                    <a:close/>
                    <a:moveTo>
                      <a:pt x="1971040" y="0"/>
                    </a:moveTo>
                    <a:lnTo>
                      <a:pt x="1898650" y="0"/>
                    </a:lnTo>
                    <a:lnTo>
                      <a:pt x="0" y="1898650"/>
                    </a:lnTo>
                    <a:lnTo>
                      <a:pt x="0" y="1971040"/>
                    </a:lnTo>
                    <a:lnTo>
                      <a:pt x="1971040" y="0"/>
                    </a:lnTo>
                    <a:close/>
                    <a:moveTo>
                      <a:pt x="2653030" y="1783080"/>
                    </a:moveTo>
                    <a:lnTo>
                      <a:pt x="2653030" y="1710690"/>
                    </a:lnTo>
                    <a:lnTo>
                      <a:pt x="1710690" y="2653030"/>
                    </a:lnTo>
                    <a:lnTo>
                      <a:pt x="1783080" y="2653030"/>
                    </a:lnTo>
                    <a:lnTo>
                      <a:pt x="2653030" y="1783080"/>
                    </a:lnTo>
                    <a:close/>
                    <a:moveTo>
                      <a:pt x="2653030" y="1927860"/>
                    </a:moveTo>
                    <a:lnTo>
                      <a:pt x="2653030" y="1855470"/>
                    </a:lnTo>
                    <a:lnTo>
                      <a:pt x="1855470" y="2653030"/>
                    </a:lnTo>
                    <a:lnTo>
                      <a:pt x="1927860" y="2653030"/>
                    </a:lnTo>
                    <a:lnTo>
                      <a:pt x="2653030" y="1927860"/>
                    </a:lnTo>
                    <a:close/>
                    <a:moveTo>
                      <a:pt x="2653030" y="2072640"/>
                    </a:moveTo>
                    <a:lnTo>
                      <a:pt x="2653030" y="2000250"/>
                    </a:lnTo>
                    <a:lnTo>
                      <a:pt x="2000250" y="2653030"/>
                    </a:lnTo>
                    <a:lnTo>
                      <a:pt x="2072640" y="2653030"/>
                    </a:lnTo>
                    <a:lnTo>
                      <a:pt x="2653030" y="2072640"/>
                    </a:lnTo>
                    <a:close/>
                    <a:moveTo>
                      <a:pt x="2653030" y="1638300"/>
                    </a:moveTo>
                    <a:lnTo>
                      <a:pt x="2653030" y="1565910"/>
                    </a:lnTo>
                    <a:lnTo>
                      <a:pt x="1564640" y="2654300"/>
                    </a:lnTo>
                    <a:lnTo>
                      <a:pt x="1637030" y="2654300"/>
                    </a:lnTo>
                    <a:lnTo>
                      <a:pt x="2653030" y="1638300"/>
                    </a:lnTo>
                    <a:close/>
                    <a:moveTo>
                      <a:pt x="2217420" y="2653030"/>
                    </a:moveTo>
                    <a:lnTo>
                      <a:pt x="2653030" y="2217420"/>
                    </a:lnTo>
                    <a:lnTo>
                      <a:pt x="2653030" y="2145030"/>
                    </a:lnTo>
                    <a:lnTo>
                      <a:pt x="2145030" y="2653030"/>
                    </a:lnTo>
                    <a:lnTo>
                      <a:pt x="2217420" y="2653030"/>
                    </a:lnTo>
                    <a:close/>
                    <a:moveTo>
                      <a:pt x="2653030" y="2580640"/>
                    </a:moveTo>
                    <a:lnTo>
                      <a:pt x="2580640" y="2653030"/>
                    </a:lnTo>
                    <a:lnTo>
                      <a:pt x="2653030" y="2653030"/>
                    </a:lnTo>
                    <a:lnTo>
                      <a:pt x="2653030" y="2580640"/>
                    </a:lnTo>
                    <a:close/>
                    <a:moveTo>
                      <a:pt x="2653030" y="2508250"/>
                    </a:moveTo>
                    <a:lnTo>
                      <a:pt x="2653030" y="2435860"/>
                    </a:lnTo>
                    <a:lnTo>
                      <a:pt x="2435860" y="2653030"/>
                    </a:lnTo>
                    <a:lnTo>
                      <a:pt x="2508250" y="2653030"/>
                    </a:lnTo>
                    <a:lnTo>
                      <a:pt x="2653030" y="2508250"/>
                    </a:lnTo>
                    <a:close/>
                    <a:moveTo>
                      <a:pt x="2653030" y="2363470"/>
                    </a:moveTo>
                    <a:lnTo>
                      <a:pt x="2653030" y="2291080"/>
                    </a:lnTo>
                    <a:lnTo>
                      <a:pt x="2291080" y="2653030"/>
                    </a:lnTo>
                    <a:lnTo>
                      <a:pt x="2363470" y="2653030"/>
                    </a:lnTo>
                    <a:lnTo>
                      <a:pt x="2653030" y="2363470"/>
                    </a:lnTo>
                    <a:close/>
                    <a:moveTo>
                      <a:pt x="2653030" y="1492250"/>
                    </a:moveTo>
                    <a:lnTo>
                      <a:pt x="2653030" y="1419860"/>
                    </a:lnTo>
                    <a:lnTo>
                      <a:pt x="1419860" y="2653030"/>
                    </a:lnTo>
                    <a:lnTo>
                      <a:pt x="1492250" y="2653030"/>
                    </a:lnTo>
                    <a:lnTo>
                      <a:pt x="2653030" y="1492250"/>
                    </a:lnTo>
                    <a:close/>
                    <a:moveTo>
                      <a:pt x="2653030" y="187960"/>
                    </a:moveTo>
                    <a:lnTo>
                      <a:pt x="2653030" y="115570"/>
                    </a:lnTo>
                    <a:lnTo>
                      <a:pt x="115570" y="2653030"/>
                    </a:lnTo>
                    <a:lnTo>
                      <a:pt x="187960" y="2653030"/>
                    </a:lnTo>
                    <a:lnTo>
                      <a:pt x="2653030" y="187960"/>
                    </a:lnTo>
                    <a:close/>
                    <a:moveTo>
                      <a:pt x="2653030" y="622300"/>
                    </a:moveTo>
                    <a:lnTo>
                      <a:pt x="2653030" y="549910"/>
                    </a:lnTo>
                    <a:lnTo>
                      <a:pt x="549910" y="2653030"/>
                    </a:lnTo>
                    <a:lnTo>
                      <a:pt x="622300" y="2653030"/>
                    </a:lnTo>
                    <a:lnTo>
                      <a:pt x="2653030" y="622300"/>
                    </a:lnTo>
                    <a:close/>
                    <a:moveTo>
                      <a:pt x="2653030" y="477520"/>
                    </a:moveTo>
                    <a:lnTo>
                      <a:pt x="2653030" y="405130"/>
                    </a:lnTo>
                    <a:lnTo>
                      <a:pt x="405130" y="2653030"/>
                    </a:lnTo>
                    <a:lnTo>
                      <a:pt x="477520" y="2653030"/>
                    </a:lnTo>
                    <a:lnTo>
                      <a:pt x="2653030" y="477520"/>
                    </a:lnTo>
                    <a:close/>
                    <a:moveTo>
                      <a:pt x="2653030" y="1347470"/>
                    </a:moveTo>
                    <a:lnTo>
                      <a:pt x="2653030" y="1275080"/>
                    </a:lnTo>
                    <a:lnTo>
                      <a:pt x="1275080" y="2653030"/>
                    </a:lnTo>
                    <a:lnTo>
                      <a:pt x="1347470" y="2653030"/>
                    </a:lnTo>
                    <a:lnTo>
                      <a:pt x="2653030" y="1347470"/>
                    </a:lnTo>
                    <a:close/>
                    <a:moveTo>
                      <a:pt x="2653030" y="767080"/>
                    </a:moveTo>
                    <a:lnTo>
                      <a:pt x="2653030" y="694690"/>
                    </a:lnTo>
                    <a:lnTo>
                      <a:pt x="694690" y="2653030"/>
                    </a:lnTo>
                    <a:lnTo>
                      <a:pt x="767080" y="2653030"/>
                    </a:lnTo>
                    <a:lnTo>
                      <a:pt x="2653030" y="767080"/>
                    </a:lnTo>
                    <a:close/>
                    <a:moveTo>
                      <a:pt x="2653030" y="332740"/>
                    </a:moveTo>
                    <a:lnTo>
                      <a:pt x="2653030" y="260350"/>
                    </a:lnTo>
                    <a:lnTo>
                      <a:pt x="260350" y="2653030"/>
                    </a:lnTo>
                    <a:lnTo>
                      <a:pt x="332740" y="2653030"/>
                    </a:lnTo>
                    <a:lnTo>
                      <a:pt x="2653030" y="332740"/>
                    </a:lnTo>
                    <a:close/>
                    <a:moveTo>
                      <a:pt x="2653030" y="1202690"/>
                    </a:moveTo>
                    <a:lnTo>
                      <a:pt x="2653030" y="1130300"/>
                    </a:lnTo>
                    <a:lnTo>
                      <a:pt x="1130300" y="2653030"/>
                    </a:lnTo>
                    <a:lnTo>
                      <a:pt x="1202690" y="2653030"/>
                    </a:lnTo>
                    <a:lnTo>
                      <a:pt x="2653030" y="1202690"/>
                    </a:lnTo>
                    <a:close/>
                    <a:moveTo>
                      <a:pt x="2653030" y="913130"/>
                    </a:moveTo>
                    <a:lnTo>
                      <a:pt x="2653030" y="840740"/>
                    </a:lnTo>
                    <a:lnTo>
                      <a:pt x="840740" y="2653030"/>
                    </a:lnTo>
                    <a:lnTo>
                      <a:pt x="913130" y="2653030"/>
                    </a:lnTo>
                    <a:lnTo>
                      <a:pt x="2653030" y="913130"/>
                    </a:lnTo>
                    <a:close/>
                    <a:moveTo>
                      <a:pt x="2653030" y="1057910"/>
                    </a:moveTo>
                    <a:lnTo>
                      <a:pt x="2653030" y="985520"/>
                    </a:lnTo>
                    <a:lnTo>
                      <a:pt x="985520" y="2653030"/>
                    </a:lnTo>
                    <a:lnTo>
                      <a:pt x="1057910" y="2653030"/>
                    </a:lnTo>
                    <a:lnTo>
                      <a:pt x="2653030" y="1057910"/>
                    </a:lnTo>
                    <a:close/>
                  </a:path>
                </a:pathLst>
              </a:custGeom>
              <a:solidFill>
                <a:srgbClr val="291928"/>
              </a:solidFill>
            </p:spPr>
          </p:sp>
        </p:grpSp>
        <p:sp>
          <p:nvSpPr>
            <p:cNvPr name="AutoShape 7" id="7"/>
            <p:cNvSpPr/>
            <p:nvPr/>
          </p:nvSpPr>
          <p:spPr>
            <a:xfrm rot="-10800000">
              <a:off x="4448649" y="7814"/>
              <a:ext cx="1848345" cy="1840531"/>
            </a:xfrm>
            <a:prstGeom prst="rect">
              <a:avLst/>
            </a:prstGeom>
            <a:solidFill>
              <a:srgbClr val="291928"/>
            </a:solidFill>
          </p:spPr>
        </p: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10800000">
              <a:off x="2224324" y="3907"/>
              <a:ext cx="1848345" cy="1848345"/>
              <a:chOff x="0" y="0"/>
              <a:chExt cx="1708150" cy="170815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3F2E3E"/>
              </a:solidFill>
            </p:spPr>
          </p:sp>
        </p:grpSp>
      </p:grpSp>
      <p:sp>
        <p:nvSpPr>
          <p:cNvPr name="TextBox 10" id="10"/>
          <p:cNvSpPr txBox="true"/>
          <p:nvPr/>
        </p:nvSpPr>
        <p:spPr>
          <a:xfrm rot="0">
            <a:off x="3512702" y="3669812"/>
            <a:ext cx="13557206" cy="1347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83"/>
              </a:lnSpc>
            </a:pPr>
            <a:r>
              <a:rPr lang="en-US" b="true" sz="8294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THANK YOU!</a:t>
            </a:r>
          </a:p>
        </p:txBody>
      </p:sp>
      <p:sp>
        <p:nvSpPr>
          <p:cNvPr name="AutoShape 11" id="11"/>
          <p:cNvSpPr/>
          <p:nvPr/>
        </p:nvSpPr>
        <p:spPr>
          <a:xfrm rot="0">
            <a:off x="3512702" y="5384825"/>
            <a:ext cx="993471" cy="167340"/>
          </a:xfrm>
          <a:prstGeom prst="rect">
            <a:avLst/>
          </a:prstGeom>
          <a:solidFill>
            <a:srgbClr val="291928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5601548" y="5157662"/>
            <a:ext cx="2748439" cy="5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Presented by-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06173" y="5645977"/>
            <a:ext cx="8334069" cy="5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Sowmya Negi - </a:t>
            </a: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E23CSEU1102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06173" y="6134292"/>
            <a:ext cx="8334069" cy="5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Aarushi Goel - </a:t>
            </a: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E23CSEU1097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06173" y="6622607"/>
            <a:ext cx="8334069" cy="55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331C2C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Akshita Parashar - </a:t>
            </a:r>
            <a:r>
              <a:rPr lang="en-US" sz="3200">
                <a:solidFill>
                  <a:srgbClr val="331C2C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E23CSEU1100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DAGmB1PWzH0</dc:identifier>
  <dcterms:modified xsi:type="dcterms:W3CDTF">2011-08-01T06:04:30Z</dcterms:modified>
  <cp:revision>1</cp:revision>
  <dc:title>TEAM- 4</dc:title>
</cp:coreProperties>
</file>